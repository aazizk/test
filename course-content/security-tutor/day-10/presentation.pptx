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88952" cy="6858000"/>
  <p:notesSz cx="6858000" cy="12188952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rainerPhoto.jpg"/><Relationship Id="rId3" Type="http://schemas.openxmlformats.org/officeDocument/2006/relationships/image" Target="../media/brandLogo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210312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spc="400" dirty="0">
                <a:solidFill>
                  <a:srgbClr val="2FDD95"/>
                </a:solidFill>
                <a:latin typeface="Courier New" pitchFamily="34" charset="0"/>
              </a:rPr>
              <a:t>DAY 10</a:t>
            </a:r>
            <a:endParaRPr lang="en-US" sz="2200"/>
          </a:p>
        </p:txBody>
      </p:sp>
      <p:sp>
        <p:nvSpPr>
          <p:cNvPr id="3" name="Title"/>
          <p:cNvSpPr/>
          <p:nvPr/>
        </p:nvSpPr>
        <p:spPr>
          <a:xfrm>
            <a:off x="731520" y="2743200"/>
            <a:ext cx="1072591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2F2F2"/>
                </a:solidFill>
                <a:latin typeface="Cambria" pitchFamily="34" charset="0"/>
              </a:rPr>
              <a:t>Vulnerability Assessment: CVSS Scoring, Scanner Mechanics, and Why "Patched" Banners Lie</a:t>
            </a:r>
            <a:endParaRPr lang="en-US" sz="4000"/>
          </a:p>
        </p:txBody>
      </p:sp>
      <p:sp>
        <p:nvSpPr>
          <p:cNvPr id="4" name="Subtitle"/>
          <p:cNvSpPr/>
          <p:nvPr/>
        </p:nvSpPr>
        <p:spPr>
          <a:xfrm>
            <a:off x="731520" y="576072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AA3AE"/>
                </a:solidFill>
                <a:latin typeface="Calibri" pitchFamily="34" charset="0"/>
              </a:rPr>
              <a:t>Security Tutor — CEH-Track Program</a:t>
            </a:r>
            <a:endParaRPr lang="en-US" sz="1600"/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THE HOOK</a:t>
            </a:r>
            <a:endParaRPr lang="en-US" sz="1600"/>
          </a:p>
        </p:txBody>
      </p:sp>
      <p:sp>
        <p:nvSpPr>
          <p:cNvPr id="4" name="Body"/>
          <p:cNvSpPr/>
          <p:nvPr/>
        </p:nvSpPr>
        <p:spPr>
          <a:xfrm>
            <a:off x="731520" y="13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Here's a sentence that sounds boring until you understand what it actually means: "Server leaks inodes via ETags, header found with file /, fields: 0x689caadf 0x267." That's a real line from a real scan I ran against a real server, five minutes before recording this.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And the question I had to answer wasn't "is this scary." It was "is this even real." Because here's the thing nobody tells you when you start learning security tools: half of what a vulnerability scanner reports is noise.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And figuring out which half is the actual skill.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WHAT WE'LL COVER</a:t>
            </a:r>
            <a:endParaRPr lang="en-US" sz="1600"/>
          </a:p>
        </p:txBody>
      </p:sp>
      <p:sp>
        <p:nvSpPr>
          <p:cNvPr id="4" name="Body"/>
          <p:cNvSpPr/>
          <p:nvPr/>
        </p:nvSpPr>
        <p:spPr>
          <a:xfrm>
            <a:off x="731520" y="13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three kinds of vulnerabilities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reading a CVSS score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how a scanner actually works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the real lab — nikto against my own server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Common mistake &amp; correction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Recap &amp; quiz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CONCEPT</a:t>
            </a:r>
            <a:endParaRPr lang="en-US" sz="1600"/>
          </a:p>
        </p:txBody>
      </p:sp>
      <p:sp>
        <p:nvSpPr>
          <p:cNvPr id="3" name="Title"/>
          <p:cNvSpPr/>
          <p:nvPr/>
        </p:nvSpPr>
        <p:spPr>
          <a:xfrm>
            <a:off x="731520" y="1150000"/>
            <a:ext cx="10725912" cy="9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F2F2"/>
                </a:solidFill>
                <a:latin typeface="Cambria" pitchFamily="34" charset="0"/>
              </a:rPr>
              <a:t>three kinds of vulnerabilities</a:t>
            </a:r>
            <a:endParaRPr lang="en-US" sz="3200"/>
          </a:p>
        </p:txBody>
      </p:sp>
      <p:sp>
        <p:nvSpPr>
          <p:cNvPr id="4" name="Body"/>
          <p:cNvSpPr/>
          <p:nvPr/>
        </p:nvSpPr>
        <p:spPr>
          <a:xfrm>
            <a:off x="731520" y="22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Let's start with something simple that I hadn't thought about clearly before today: "vulnerability" isn't one category of thing.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There are three.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The first is a **missing patch**.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This is the easy case — there's a known, published vulnerability, the vendor already shipped a fix for it, and...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CONCEPT</a:t>
            </a:r>
            <a:endParaRPr lang="en-US" sz="1600"/>
          </a:p>
        </p:txBody>
      </p:sp>
      <p:sp>
        <p:nvSpPr>
          <p:cNvPr id="3" name="Title"/>
          <p:cNvSpPr/>
          <p:nvPr/>
        </p:nvSpPr>
        <p:spPr>
          <a:xfrm>
            <a:off x="731520" y="1150000"/>
            <a:ext cx="10725912" cy="9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F2F2"/>
                </a:solidFill>
                <a:latin typeface="Cambria" pitchFamily="34" charset="0"/>
              </a:rPr>
              <a:t>reading a CVSS score</a:t>
            </a:r>
            <a:endParaRPr lang="en-US" sz="3200"/>
          </a:p>
        </p:txBody>
      </p:sp>
      <p:sp>
        <p:nvSpPr>
          <p:cNvPr id="4" name="Body"/>
          <p:cNvSpPr/>
          <p:nvPr/>
        </p:nvSpPr>
        <p:spPr>
          <a:xfrm>
            <a:off x="731520" y="22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Every vulnerability gets scored from 0 to 10 using something called CVSS — the Common Vulnerability Scoring System.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And it's built from a vector string that looks intimidating the first time you see it: Here's how to actually...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AV is attack vector — how close does the attacker need to be.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N means network, so they can be anywhere on the internet.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CONCEPT</a:t>
            </a:r>
            <a:endParaRPr lang="en-US" sz="1600"/>
          </a:p>
        </p:txBody>
      </p:sp>
      <p:sp>
        <p:nvSpPr>
          <p:cNvPr id="3" name="Title"/>
          <p:cNvSpPr/>
          <p:nvPr/>
        </p:nvSpPr>
        <p:spPr>
          <a:xfrm>
            <a:off x="731520" y="1150000"/>
            <a:ext cx="10725912" cy="9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F2F2"/>
                </a:solidFill>
                <a:latin typeface="Cambria" pitchFamily="34" charset="0"/>
              </a:rPr>
              <a:t>how a scanner actually works</a:t>
            </a:r>
            <a:endParaRPr lang="en-US" sz="3200"/>
          </a:p>
        </p:txBody>
      </p:sp>
      <p:sp>
        <p:nvSpPr>
          <p:cNvPr id="4" name="Body"/>
          <p:cNvSpPr/>
          <p:nvPr/>
        </p:nvSpPr>
        <p:spPr>
          <a:xfrm>
            <a:off x="731520" y="22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So where do these findings even come from?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Tools like nikto, Nessus, OpenVAS — they're not intelligent in the way people assume.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They do three mechanical things.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They fingerprint your server's version banner and check it against a database of known CVEs for that version.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CONCEPT</a:t>
            </a:r>
            <a:endParaRPr lang="en-US" sz="1600"/>
          </a:p>
        </p:txBody>
      </p:sp>
      <p:sp>
        <p:nvSpPr>
          <p:cNvPr id="3" name="Title"/>
          <p:cNvSpPr/>
          <p:nvPr/>
        </p:nvSpPr>
        <p:spPr>
          <a:xfrm>
            <a:off x="731520" y="1150000"/>
            <a:ext cx="10725912" cy="9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F2F2"/>
                </a:solidFill>
                <a:latin typeface="Cambria" pitchFamily="34" charset="0"/>
              </a:rPr>
              <a:t>the real lab — nikto against my own server</a:t>
            </a:r>
            <a:endParaRPr lang="en-US" sz="3200"/>
          </a:p>
        </p:txBody>
      </p:sp>
      <p:sp>
        <p:nvSpPr>
          <p:cNvPr id="4" name="Body"/>
          <p:cNvSpPr/>
          <p:nvPr/>
        </p:nvSpPr>
        <p:spPr>
          <a:xfrm>
            <a:off x="731520" y="22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So let's make this concrete.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I spun up a plain nginx container on an isolated Docker network — bound only to localhost on my own...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It came back with two findings.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First: the server leaks inode numbers through its ETag header.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F2994A"/>
                </a:solidFill>
                <a:latin typeface="Courier New" pitchFamily="34" charset="0"/>
              </a:rPr>
              <a:t>COMMON MISTAKE</a:t>
            </a:r>
            <a:endParaRPr lang="en-US" sz="1600"/>
          </a:p>
        </p:txBody>
      </p:sp>
      <p:sp>
        <p:nvSpPr>
          <p:cNvPr id="4" name="Body"/>
          <p:cNvSpPr/>
          <p:nvPr/>
        </p:nvSpPr>
        <p:spPr>
          <a:xfrm>
            <a:off x="731520" y="13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I want to flag two mistakes from today specifically, because they're the kind of thing you'll probably do too.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First, on the CVSS ranking drill, I initially ranked the "easiest to exploit, worst impact" vector as the lowest severity...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Second, on a question about verifying a Heartbleed vulnerability, my first instinct was to check if port 80 was open...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I'd conflated the two protocols.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RECAP</a:t>
            </a:r>
            <a:endParaRPr lang="en-US" sz="1600"/>
          </a:p>
        </p:txBody>
      </p:sp>
      <p:sp>
        <p:nvSpPr>
          <p:cNvPr id="4" name="Body"/>
          <p:cNvSpPr/>
          <p:nvPr/>
        </p:nvSpPr>
        <p:spPr>
          <a:xfrm>
            <a:off x="731520" y="13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Three things to hold onto: vulnerabilities split into missing patches, misconfigurations, and design flaws, and each needs a different fix.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CVSS severity is really just "how many barriers does the attacker have to clear" — fewer barriers, higher score.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And scanners pattern-match, they don't understand — which means every finding needs a human to verify the actual behavior before...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Here are the three questions from today — pause and think before I give you the shape of the answer.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QUIZ — PAUSE AND THINK</a:t>
            </a:r>
            <a:endParaRPr lang="en-US" sz="1600"/>
          </a:p>
        </p:txBody>
      </p:sp>
      <p:sp>
        <p:nvSpPr>
          <p:cNvPr id="4" name="Body"/>
          <p:cNvSpPr/>
          <p:nvPr/>
        </p:nvSpPr>
        <p:spPr>
          <a:xfrm>
            <a:off x="731520" y="13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One: a scanner flags an outdated OpenSSL version vulnerable to Heartbleed — what's the one thing you have to check before reporting that as real?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Three: what's the actual difference in how you'd fix a missing-patch vulnerability versus a misconfiguration?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TAKEAWAY</a:t>
            </a:r>
            <a:endParaRPr lang="en-US" sz="1600"/>
          </a:p>
        </p:txBody>
      </p:sp>
      <p:sp>
        <p:nvSpPr>
          <p:cNvPr id="4" name="Body"/>
          <p:cNvSpPr/>
          <p:nvPr/>
        </p:nvSpPr>
        <p:spPr>
          <a:xfrm>
            <a:off x="731520" y="13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If there's one line to take away from today, it's this: a scanner's output is a lead, not a verdict — always verify the actual behavior before you act on...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That's not just a security lesson, honestly, it's a decent life lesson too. Next time we're covering the flip side of today — false negatives, and why a scan can...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7000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ABOUT THE TRAINER</a:t>
            </a:r>
            <a:endParaRPr lang="en-US" sz="1600"/>
          </a:p>
        </p:txBody>
      </p:sp>
      <p:sp>
        <p:nvSpPr>
          <p:cNvPr id="3" name="Name"/>
          <p:cNvSpPr/>
          <p:nvPr/>
        </p:nvSpPr>
        <p:spPr>
          <a:xfrm>
            <a:off x="731520" y="1300000"/>
            <a:ext cx="7000000" cy="7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2F2F2"/>
                </a:solidFill>
                <a:latin typeface="Cambria" pitchFamily="34" charset="0"/>
              </a:rPr>
              <a:t>Abdul Aziz Khan</a:t>
            </a:r>
            <a:endParaRPr lang="en-US" sz="3600"/>
          </a:p>
        </p:txBody>
      </p:sp>
      <p:sp>
        <p:nvSpPr>
          <p:cNvPr id="4" name="Role"/>
          <p:cNvSpPr/>
          <p:nvPr/>
        </p:nvSpPr>
        <p:spPr>
          <a:xfrm>
            <a:off x="731520" y="2150000"/>
            <a:ext cx="7000000" cy="4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FDD95"/>
                </a:solidFill>
                <a:latin typeface="Calibri" pitchFamily="34" charset="0"/>
              </a:rPr>
              <a:t>Trainer, BrainsWork</a:t>
            </a:r>
            <a:endParaRPr lang="en-US" sz="1800"/>
          </a:p>
        </p:txBody>
      </p:sp>
      <p:sp>
        <p:nvSpPr>
          <p:cNvPr id="5" name="Bio"/>
          <p:cNvSpPr/>
          <p:nvPr/>
        </p:nvSpPr>
        <p:spPr>
          <a:xfrm>
            <a:off x="731520" y="2750000"/>
            <a:ext cx="7000000" cy="24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3AE"/>
                </a:solidFill>
                <a:latin typeface="Calibri" pitchFamily="34" charset="0"/>
              </a:rPr>
              <a:t>Abdul Aziz Khan is a seasoned Telecom and IT professional, currently working as a DevOps engineer for a Fortune 500 financial company. A long-time practitioner turned teacher, he built this course to make security concepts concrete through real, hands-on labs rather than slides alone. Open, candid, and always glad to talk shop.</a:t>
            </a:r>
            <a:endParaRPr lang="en-US" sz="1400"/>
          </a:p>
        </p:txBody>
      </p:sp>
      <p:sp>
        <p:nvSpPr>
          <p:cNvPr id="6" name="Contact"/>
          <p:cNvSpPr/>
          <p:nvPr/>
        </p:nvSpPr>
        <p:spPr>
          <a:xfrm>
            <a:off x="731520" y="5450000"/>
            <a:ext cx="7000000" cy="4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</a:rPr>
              <a:t>khan.abdulaziz@gmail.com   |   linkedin.com/in/abdulazizk</a:t>
            </a:r>
            <a:endParaRPr lang="en-US" sz="1300"/>
          </a:p>
        </p:txBody>
      </p:sp>
      <p:pic>
        <p:nvPicPr>
          <p:cNvPr id="7" name="Trainer Pho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0032" y="2057400"/>
            <a:ext cx="2057400" cy="2743200"/>
          </a:xfrm>
          <a:prstGeom prst="rect">
            <a:avLst/>
          </a:prstGeom>
        </p:spPr>
      </p:pic>
      <p:pic>
        <p:nvPicPr>
          <p:cNvPr id="8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2026-10-11T17:43:10Z</dcterms:created>
  <dcterms:modified xsi:type="dcterms:W3CDTF">2026-10-11T17:43:10Z</dcterms:modified>
</cp:coreProperties>
</file>