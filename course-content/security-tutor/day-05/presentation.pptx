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8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randLogo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randLogo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randLogo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randLogo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randLogo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randLogo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randLogo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randLogo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randLogo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randLogo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brand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rainerPhoto.jpg"/><Relationship Id="rId3" Type="http://schemas.openxmlformats.org/officeDocument/2006/relationships/image" Target="../media/brand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passwd, shadow &amp; Process Privilege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Linux keep your username in a file anyone can read, but your password hash in a file almost nobody can? That's a deliberate design decision.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/etc/passwd field structure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 ranges &amp; account types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nologin shell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/etc/shadow vs. /etc/passwd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&amp; process privilege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/etc/passwd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: x : UID : GID : comment : home : shell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World-readable by design — lookups need 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real passwd line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alice:x:1001:1001:Alice:/home/alice:/bin/bash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UID Ranges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 0 = root, always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1000 = system/service accounts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1000+ = real human accounts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nologin Shell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accounts don't need interactive login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nologin shell blocks login without deleting the account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/etc/shadow vs. /etc/passwd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passwd = world-readable metadata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= password hashes, root-only access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prevents offline hash cracking from read access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 comparison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/etc/passwd   -rw-r--r--  (world-readable)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/etc/shadow   -rw-------  (root only)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 &amp; Process Privilege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group (default) vs. supplementary groups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process runs as a user, inherits that privilege ceiling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aux USER column = the real privilege boundary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aux (USER column)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  PID  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    1  /sbin/init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www-data 842 nginx: worker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passwd = world-readable metadata; shadow = locked-down hashes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 ranges signal account type at a glance; nologin blocks login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process's user is the ceiling of what a compromise can do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Why can't password hashes just stay in /etc/passwd if permissions are enforced elsewhere?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What's the practical difference between a primary and supplementary group?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process in ps aux runs as UID 0 — what does that tell you if it's compromised?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Whatever user a process runs as defines the ceiling of what an attacker gains if it's exploited.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6 — the final Linux day: cron and privilege escalation.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731520" y="548640"/>
            <a:ext cx="700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spc="300" dirty="0">
                <a:solidFill>
                  <a:srgbClr val="2FDD95"/>
                </a:solidFill>
                <a:latin typeface="Courier New" pitchFamily="34" charset="0"/>
              </a:rPr>
              <a:t>ABOUT THE TRAINER</a:t>
            </a:r>
            <a:endParaRPr lang="en-US" sz="1600"/>
          </a:p>
        </p:txBody>
      </p:sp>
      <p:sp>
        <p:nvSpPr>
          <p:cNvPr id="3" name="Name"/>
          <p:cNvSpPr/>
          <p:nvPr/>
        </p:nvSpPr>
        <p:spPr>
          <a:xfrm>
            <a:off x="731520" y="1300000"/>
            <a:ext cx="70000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2F2"/>
                </a:solidFill>
                <a:latin typeface="Cambria" pitchFamily="34" charset="0"/>
              </a:rPr>
              <a:t>Abdul Aziz Khan</a:t>
            </a:r>
            <a:endParaRPr lang="en-US" sz="3600"/>
          </a:p>
        </p:txBody>
      </p:sp>
      <p:sp>
        <p:nvSpPr>
          <p:cNvPr id="4" name="Role"/>
          <p:cNvSpPr/>
          <p:nvPr/>
        </p:nvSpPr>
        <p:spPr>
          <a:xfrm>
            <a:off x="731520" y="2150000"/>
            <a:ext cx="700000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DD95"/>
                </a:solidFill>
                <a:latin typeface="Calibri" pitchFamily="34" charset="0"/>
              </a:rPr>
              <a:t>Trainer, BrainsWork</a:t>
            </a:r>
            <a:endParaRPr lang="en-US" sz="1800"/>
          </a:p>
        </p:txBody>
      </p:sp>
      <p:sp>
        <p:nvSpPr>
          <p:cNvPr id="5" name="Bio"/>
          <p:cNvSpPr/>
          <p:nvPr/>
        </p:nvSpPr>
        <p:spPr>
          <a:xfrm>
            <a:off x="731520" y="2750000"/>
            <a:ext cx="7000000" cy="2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</a:rPr>
              <a:t>Abdul Aziz Khan is a seasoned Telecom and IT professional, currently working as a DevOps engineer for a Fortune 500 financial company. A long-time practitioner turned teacher, he built this course to make security concepts concrete through real, hands-on labs rather than slides alone. Open, candid, and always glad to talk shop.</a:t>
            </a:r>
            <a:endParaRPr lang="en-US" sz="1400"/>
          </a:p>
        </p:txBody>
      </p:sp>
      <p:sp>
        <p:nvSpPr>
          <p:cNvPr id="6" name="Contact"/>
          <p:cNvSpPr/>
          <p:nvPr/>
        </p:nvSpPr>
        <p:spPr>
          <a:xfrm>
            <a:off x="731520" y="5450000"/>
            <a:ext cx="700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</a:rPr>
              <a:t>khan.abdulaziz@gmail.com   |   linkedin.com/in/abdulazizk</a:t>
            </a:r>
            <a:endParaRPr lang="en-US" sz="1300"/>
          </a:p>
        </p:txBody>
      </p:sp>
      <p:pic>
        <p:nvPicPr>
          <p:cNvPr id="7" name="Trainer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057400"/>
            <a:ext cx="2057400" cy="2743200"/>
          </a:xfrm>
          <a:prstGeom prst="rect">
            <a:avLst/>
          </a:prstGeom>
        </p:spPr>
      </p:pic>
      <p:pic>
        <p:nvPicPr>
          <p:cNvPr id="8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