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1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7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brandLogo.jp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brandLogo.jp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brandLogo.jp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brandLogo.jp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brandLogo.jp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brandLogo.jp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brandLogo.jp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brandLogo.jp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brandLogo.jp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brandLogo.jpg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trainerPhoto.jpg"/><Relationship Id="rId3" Type="http://schemas.openxmlformats.org/officeDocument/2006/relationships/image" Target="../media/brandLogo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03120"/>
            <a:ext cx="10725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400" kern="0" dirty="0">
                <a:solidFill>
                  <a:srgbClr val="2FDD9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DAY 01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731520" y="2743200"/>
            <a:ext cx="10725912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2F2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IP Addressing, CIDR &amp; Interfaces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5760720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Tutor — CEH-Track Program</a:t>
            </a:r>
            <a:endParaRPr lang="en-US" sz="1600" dirty="0"/>
          </a:p>
        </p:txBody>
      </p:sp>
      <p:pic>
        <p:nvPicPr>
          <p:cNvPr id="90001" name="Brand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3152" y="6172200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spc="300" kern="0" dirty="0">
                <a:solidFill>
                  <a:srgbClr val="2FDD9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HOOK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188720"/>
            <a:ext cx="10725912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i="1" dirty="0">
                <a:solidFill>
                  <a:srgbClr val="F2F2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Given 192.168.1.137/26 — without a calculator — can you name the first usable address, the last usable address, and the total host count? By the end of this lesson, yes.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security-tutor</a:t>
            </a:r>
            <a:endParaRPr lang="en-US" sz="1100" dirty="0"/>
          </a:p>
        </p:txBody>
      </p:sp>
      <p:pic>
        <p:nvPicPr>
          <p:cNvPr id="90001" name="Brand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3152" y="6172200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725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We'll Cover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14400" y="1645920"/>
            <a:ext cx="10360152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20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 addresses &amp; subnet masks</a:t>
            </a:r>
            <a:endParaRPr lang="en-US" sz="20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20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CIDR notation (/24, /25, /26, /28)</a:t>
            </a:r>
            <a:endParaRPr lang="en-US" sz="20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20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Network, broadcast &amp; usable host range</a:t>
            </a:r>
            <a:endParaRPr lang="en-US" sz="20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20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 addresses vs. IP addresses</a:t>
            </a:r>
            <a:endParaRPr lang="en-US" sz="20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20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flags: UP vs. LOWER_UP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security-tutor</a:t>
            </a:r>
            <a:endParaRPr lang="en-US" sz="1100" dirty="0"/>
          </a:p>
        </p:txBody>
      </p:sp>
      <p:pic>
        <p:nvPicPr>
          <p:cNvPr id="90001" name="Brand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3152" y="6172200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7259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FDD9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IP Addresses &amp; Subnet Masks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554480"/>
            <a:ext cx="10725912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 alone means little — mask defines the network</a:t>
            </a:r>
            <a:endParaRPr lang="en-US" sz="1800" dirty="0"/>
          </a:p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 splits address into network bits + host bits</a:t>
            </a:r>
            <a:endParaRPr lang="en-US" sz="1800" dirty="0"/>
          </a:p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/24 = 24 network bits, 8 host bits = 256 addresses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security-tutor</a:t>
            </a:r>
            <a:endParaRPr lang="en-US" sz="1100" dirty="0"/>
          </a:p>
        </p:txBody>
      </p:sp>
      <p:pic>
        <p:nvPicPr>
          <p:cNvPr id="90001" name="Brand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3152" y="6172200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7259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FDD9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Network, Broadcast &amp; Usable Range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554480"/>
            <a:ext cx="5148438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address = all-zero host bits (first)</a:t>
            </a:r>
            <a:endParaRPr lang="en-US" sz="1800" dirty="0"/>
          </a:p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Broadcast address = all-one host bits (last)</a:t>
            </a:r>
            <a:endParaRPr lang="en-US" sz="1800" dirty="0"/>
          </a:p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Usable range = everything in between</a:t>
            </a:r>
            <a:endParaRPr lang="en-US" sz="1800" dirty="0"/>
          </a:p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/24 → 254 usable · /28 → 14 usable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245718" y="1554480"/>
            <a:ext cx="521171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Worked example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245718" y="1965960"/>
            <a:ext cx="5211714" cy="3657600"/>
          </a:xfrm>
          <a:prstGeom prst="roundRect">
            <a:avLst>
              <a:gd name="adj" fmla="val 1500"/>
            </a:avLst>
          </a:prstGeom>
          <a:solidFill>
            <a:srgbClr val="1E2430"/>
          </a:solidFill>
          <a:ln w="12700">
            <a:solidFill>
              <a:srgbClr val="1E243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74318" y="2103120"/>
            <a:ext cx="4754514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2F2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192.168.1.0/24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F2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Network:    192.168.1.0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F2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Broadcast:  192.168.1.255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F2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Usable:     .1 - .254 (254 hosts)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security-tutor</a:t>
            </a:r>
            <a:endParaRPr lang="en-US" sz="1100" dirty="0"/>
          </a:p>
        </p:txBody>
      </p:sp>
      <p:pic>
        <p:nvPicPr>
          <p:cNvPr id="90001" name="Brand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3152" y="6172200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7259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FDD9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 Addresses vs. IP Addresses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554480"/>
            <a:ext cx="10725912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 = logical, assigned, can change</a:t>
            </a:r>
            <a:endParaRPr lang="en-US" sz="1800" dirty="0"/>
          </a:p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 = burned into hardware, local-segment only</a:t>
            </a:r>
            <a:endParaRPr lang="en-US" sz="1800" dirty="0"/>
          </a:p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 handles one hop; IP crosses networks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security-tutor</a:t>
            </a:r>
            <a:endParaRPr lang="en-US" sz="1100" dirty="0"/>
          </a:p>
        </p:txBody>
      </p:sp>
      <p:pic>
        <p:nvPicPr>
          <p:cNvPr id="90001" name="Brand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3152" y="6172200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7259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FDD9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Interface Flags: UP vs. LOWER_UP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554480"/>
            <a:ext cx="5148438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= administratively enabled (software)</a:t>
            </a:r>
            <a:endParaRPr lang="en-US" sz="1800" dirty="0"/>
          </a:p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LOWER_UP = physical link actually detected</a:t>
            </a:r>
            <a:endParaRPr lang="en-US" sz="1800" dirty="0"/>
          </a:p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without LOWER_UP = enabled but nothing plugged 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245718" y="1554480"/>
            <a:ext cx="521171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Interface output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245718" y="1965960"/>
            <a:ext cx="5211714" cy="3657600"/>
          </a:xfrm>
          <a:prstGeom prst="roundRect">
            <a:avLst>
              <a:gd name="adj" fmla="val 1500"/>
            </a:avLst>
          </a:prstGeom>
          <a:solidFill>
            <a:srgbClr val="1E2430"/>
          </a:solidFill>
          <a:ln w="12700">
            <a:solidFill>
              <a:srgbClr val="1E243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74318" y="2103120"/>
            <a:ext cx="4754514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2F2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eth0: flags=UP,BROADCAST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F2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&lt;LOWER_UP missing&gt;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F2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enabled, but no physical link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security-tutor</a:t>
            </a:r>
            <a:endParaRPr lang="en-US" sz="1100" dirty="0"/>
          </a:p>
        </p:txBody>
      </p:sp>
      <p:pic>
        <p:nvPicPr>
          <p:cNvPr id="90001" name="Brand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3152" y="6172200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725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Recap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31520" y="1645920"/>
            <a:ext cx="731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FDD9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554480" y="1737360"/>
            <a:ext cx="972007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mask/CIDR splits an IP into network + host portions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31520" y="3017520"/>
            <a:ext cx="731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FDD9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1554480" y="3108960"/>
            <a:ext cx="972007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&amp; broadcast addresses are reserved, never assigned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731520" y="4389120"/>
            <a:ext cx="731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FDD9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1554480" y="4480560"/>
            <a:ext cx="972007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≠ LOWER_UP — software state vs. physical link state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security-tutor</a:t>
            </a:r>
            <a:endParaRPr lang="en-US" sz="1100" dirty="0"/>
          </a:p>
        </p:txBody>
      </p:sp>
      <p:pic>
        <p:nvPicPr>
          <p:cNvPr id="90001" name="Brand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3152" y="6172200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725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FDD9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Quiz — Pause and Think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914400" y="1737360"/>
            <a:ext cx="10360152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800"/>
              </a:spcAft>
              <a:buNone/>
            </a:pPr>
            <a:r>
              <a:rPr lang="en-US" sz="19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For 10.0.0.0/28: what's the network address, broadcast address, and usable host count?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security-tutor</a:t>
            </a:r>
            <a:endParaRPr lang="en-US" sz="1100" dirty="0"/>
          </a:p>
        </p:txBody>
      </p:sp>
      <p:pic>
        <p:nvPicPr>
          <p:cNvPr id="90001" name="Brand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3152" y="6172200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828800"/>
            <a:ext cx="10725912" cy="0"/>
          </a:xfrm>
          <a:prstGeom prst="line">
            <a:avLst/>
          </a:prstGeom>
          <a:noFill/>
          <a:ln w="25400">
            <a:solidFill>
              <a:srgbClr val="2FDD9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2103120"/>
            <a:ext cx="10725912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2F2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Always check interface state before trusting that an IP is reachable — UP alone doesn't mean connected.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4206240"/>
            <a:ext cx="1072591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Day 2 — routing, default gateways, and how a packet decides where to go.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640080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security-tutor</a:t>
            </a:r>
            <a:endParaRPr lang="en-US" sz="1100" dirty="0"/>
          </a:p>
        </p:txBody>
      </p:sp>
      <p:pic>
        <p:nvPicPr>
          <p:cNvPr id="90001" name="Brand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3152" y="6172200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losing Slide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731520" y="548640"/>
            <a:ext cx="7000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spc="300" dirty="0">
                <a:solidFill>
                  <a:srgbClr val="2FDD95"/>
                </a:solidFill>
                <a:latin typeface="Courier New" pitchFamily="34" charset="0"/>
              </a:rPr>
              <a:t>ABOUT THE TRAINER</a:t>
            </a:r>
            <a:endParaRPr lang="en-US" sz="1600"/>
          </a:p>
        </p:txBody>
      </p:sp>
      <p:sp>
        <p:nvSpPr>
          <p:cNvPr id="3" name="Name"/>
          <p:cNvSpPr/>
          <p:nvPr/>
        </p:nvSpPr>
        <p:spPr>
          <a:xfrm>
            <a:off x="731520" y="1300000"/>
            <a:ext cx="7000000" cy="70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2F2F2"/>
                </a:solidFill>
                <a:latin typeface="Cambria" pitchFamily="34" charset="0"/>
              </a:rPr>
              <a:t>Abdul Aziz Khan</a:t>
            </a:r>
            <a:endParaRPr lang="en-US" sz="3600"/>
          </a:p>
        </p:txBody>
      </p:sp>
      <p:sp>
        <p:nvSpPr>
          <p:cNvPr id="4" name="Role"/>
          <p:cNvSpPr/>
          <p:nvPr/>
        </p:nvSpPr>
        <p:spPr>
          <a:xfrm>
            <a:off x="731520" y="2150000"/>
            <a:ext cx="7000000" cy="45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FDD95"/>
                </a:solidFill>
                <a:latin typeface="Calibri" pitchFamily="34" charset="0"/>
              </a:rPr>
              <a:t>Trainer, BrainsWork</a:t>
            </a:r>
            <a:endParaRPr lang="en-US" sz="1800"/>
          </a:p>
        </p:txBody>
      </p:sp>
      <p:sp>
        <p:nvSpPr>
          <p:cNvPr id="5" name="Bio"/>
          <p:cNvSpPr/>
          <p:nvPr/>
        </p:nvSpPr>
        <p:spPr>
          <a:xfrm>
            <a:off x="731520" y="2750000"/>
            <a:ext cx="7000000" cy="240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A3AE"/>
                </a:solidFill>
                <a:latin typeface="Calibri" pitchFamily="34" charset="0"/>
              </a:rPr>
              <a:t>Abdul Aziz Khan is a seasoned Telecom and IT professional, currently working as a DevOps engineer for a Fortune 500 financial company. A long-time practitioner turned teacher, he built this course to make security concepts concrete through real, hands-on labs rather than slides alone. Open, candid, and always glad to talk shop.</a:t>
            </a:r>
            <a:endParaRPr lang="en-US" sz="1400"/>
          </a:p>
        </p:txBody>
      </p:sp>
      <p:sp>
        <p:nvSpPr>
          <p:cNvPr id="6" name="Contact"/>
          <p:cNvSpPr/>
          <p:nvPr/>
        </p:nvSpPr>
        <p:spPr>
          <a:xfrm>
            <a:off x="731520" y="5450000"/>
            <a:ext cx="7000000" cy="40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2F2F2"/>
                </a:solidFill>
                <a:latin typeface="Calibri" pitchFamily="34" charset="0"/>
              </a:rPr>
              <a:t>khan.abdulaziz@gmail.com   |   linkedin.com/in/abdulazizk</a:t>
            </a:r>
            <a:endParaRPr lang="en-US" sz="1300"/>
          </a:p>
        </p:txBody>
      </p:sp>
      <p:pic>
        <p:nvPicPr>
          <p:cNvPr id="7" name="Trainer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0032" y="2057400"/>
            <a:ext cx="2057400" cy="2743200"/>
          </a:xfrm>
          <a:prstGeom prst="rect">
            <a:avLst/>
          </a:prstGeom>
        </p:spPr>
      </p:pic>
      <p:pic>
        <p:nvPicPr>
          <p:cNvPr id="8" name="Brand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03152" y="6172200"/>
            <a:ext cx="548640" cy="548640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2026-10-11T17:43:10Z</dcterms:created>
  <dcterms:modified xsi:type="dcterms:W3CDTF">2026-10-11T17:43:10Z</dcterms:modified>
</cp:coreProperties>
</file>