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2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8"/>
  </p:sldIdLst>
  <p:notesMasterIdLst>
    <p:notesMasterId r:id="rId1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brandLogo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brandLogo.jp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brandLogo.jp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brandLogo.jp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brandLogo.jp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brandLogo.jp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brandLogo.jp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brandLogo.jp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brandLogo.jp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brandLogo.jp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brandLogo.jp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trainerPhoto.jpg"/><Relationship Id="rId3" Type="http://schemas.openxmlformats.org/officeDocument/2006/relationships/image" Target="../media/brandLogo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400" kern="0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07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725912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 Fundamentals — Proving TLS with a Packet Capture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576072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Tutor — CEH-Track Program</a:t>
            </a:r>
            <a:endParaRPr lang="en-US" sz="16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300" kern="0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HOOK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i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login, same password, captured twice — once over HTTP, once over TLS. One capture shows the password in clear text. The other: zero matches.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3931920"/>
            <a:ext cx="10725912" cy="1828800"/>
          </a:xfrm>
          <a:prstGeom prst="roundRect">
            <a:avLst>
              <a:gd name="adj" fmla="val 4000"/>
            </a:avLst>
          </a:prstGeom>
          <a:solidFill>
            <a:srgbClr val="1E2430"/>
          </a:solidFill>
          <a:ln w="12700">
            <a:solidFill>
              <a:srgbClr val="1E243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4114800"/>
            <a:ext cx="1017727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cat http.pcap | strings | grep password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username=alice&amp;password=SuperSecret123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grep SuperSecret123 tls.pcap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(no matches)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Cover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1645920"/>
            <a:ext cx="1036015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20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real HTTP request/response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20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codes, live (2xx-5xx)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20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Cookies &amp; sessions, HttpOnly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20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proven empirically via tcpdump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DD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Real HTTP Request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5148438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+ path + version, then headers, blank line, body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Content-Length: how many bytes to expect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Content-Type: how to interpret them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header can leak exact software/version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245718" y="1554480"/>
            <a:ext cx="521171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 nginx request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245718" y="1965960"/>
            <a:ext cx="5211714" cy="3657600"/>
          </a:xfrm>
          <a:prstGeom prst="roundRect">
            <a:avLst>
              <a:gd name="adj" fmla="val 1500"/>
            </a:avLst>
          </a:prstGeom>
          <a:solidFill>
            <a:srgbClr val="1E2430"/>
          </a:solidFill>
          <a:ln w="12700">
            <a:solidFill>
              <a:srgbClr val="1E24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74318" y="2103120"/>
            <a:ext cx="4754514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-v http://localhost:8080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GET / HTTP/1.1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HTTP/1.1 200 OK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Content-Type: text/html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Server: nginx/1.29.1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DD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Status Codes, Live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1072591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2xx success · 3xx redirect · 4xx client error · 5xx server error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200 vs. real 404 observed directly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DD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Cookies &amp; Sessions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5148438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Server: Set-Cookie → client stores it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request: client echoes Cookie automatically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HttpOnly blocks JavaScript from reading the cookie (anti-XSS)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245718" y="1554480"/>
            <a:ext cx="521171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round trip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245718" y="1965960"/>
            <a:ext cx="5211714" cy="3657600"/>
          </a:xfrm>
          <a:prstGeom prst="roundRect">
            <a:avLst>
              <a:gd name="adj" fmla="val 1500"/>
            </a:avLst>
          </a:prstGeom>
          <a:solidFill>
            <a:srgbClr val="1E2430"/>
          </a:solidFill>
          <a:ln w="12700">
            <a:solidFill>
              <a:srgbClr val="1E24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74318" y="2103120"/>
            <a:ext cx="4754514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 1: Set-Cookie: sid=abc123; HttpOnly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 2:  Cookie: sid=abc123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DD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TLS, Proven Empirically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1072591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tcpdump on identical logins: plaintext vs. TLS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Plaintext capture: password readable via cat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capture: grep for the same password → nothing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Mistake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737360"/>
            <a:ext cx="5180076" cy="3200400"/>
          </a:xfrm>
          <a:prstGeom prst="roundRect">
            <a:avLst>
              <a:gd name="adj" fmla="val 1714"/>
            </a:avLst>
          </a:prstGeom>
          <a:solidFill>
            <a:srgbClr val="1E2430"/>
          </a:solidFill>
          <a:ln w="12700">
            <a:solidFill>
              <a:srgbClr val="7A2E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8745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6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WRONG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481431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Forbidden means "wrong password."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277356" y="1737360"/>
            <a:ext cx="5180076" cy="3200400"/>
          </a:xfrm>
          <a:prstGeom prst="roundRect">
            <a:avLst>
              <a:gd name="adj" fmla="val 1714"/>
            </a:avLst>
          </a:prstGeom>
          <a:solidFill>
            <a:srgbClr val="1E2430"/>
          </a:solidFill>
          <a:ln w="12700">
            <a:solidFill>
              <a:srgbClr val="2FDD9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60236" y="18745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CORRECT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60236" y="2286000"/>
            <a:ext cx="481431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= resource exists, access denied. 404 = genuinely not there. Attackers use this to map hidden pages.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731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554480" y="1737360"/>
            <a:ext cx="972007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is plain, structured text: headers, blank line, body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731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554480" y="3108960"/>
            <a:ext cx="972007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Cookies are a round trip; HttpOnly protects against JS access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31520" y="4389120"/>
            <a:ext cx="731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554480" y="4480560"/>
            <a:ext cx="972007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is the literal difference between a readable password and an unrecoverable one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DD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Quiz — Pause and Think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914400" y="1737360"/>
            <a:ext cx="1036015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800"/>
              </a:spcAft>
              <a:buNone/>
            </a:pPr>
            <a:r>
              <a:rPr lang="en-US" sz="19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What's the practical difference between a 403 and a 404, and why would an attacker care?</a:t>
            </a:r>
            <a:endParaRPr lang="en-US" sz="1900" dirty="0"/>
          </a:p>
          <a:p>
            <a:pPr indent="0" marL="0">
              <a:lnSpc>
                <a:spcPct val="130000"/>
              </a:lnSpc>
              <a:spcAft>
                <a:spcPts val="1800"/>
              </a:spcAft>
              <a:buNone/>
            </a:pPr>
            <a:r>
              <a:rPr lang="en-US" sz="19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What does the HttpOnly flag actually prevent?</a:t>
            </a:r>
            <a:endParaRPr lang="en-US" sz="1900" dirty="0"/>
          </a:p>
          <a:p>
            <a:pPr indent="0" marL="0">
              <a:lnSpc>
                <a:spcPct val="130000"/>
              </a:lnSpc>
              <a:spcAft>
                <a:spcPts val="1800"/>
              </a:spcAft>
              <a:buNone/>
            </a:pPr>
            <a:r>
              <a:rPr lang="en-US" sz="19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What problem could a missing/wrong Content-Length cause for the client?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828800"/>
            <a:ext cx="10725912" cy="0"/>
          </a:xfrm>
          <a:prstGeom prst="line">
            <a:avLst/>
          </a:prstGeom>
          <a:noFill/>
          <a:ln w="25400">
            <a:solidFill>
              <a:srgbClr val="2FDD9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2103120"/>
            <a:ext cx="10725912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"Private" doesn't mean "protected" — a trusted network is not the same as an encrypted one.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72591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Day 8 — real reconnaissance against a real public domain.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losing Slide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731520" y="548640"/>
            <a:ext cx="7000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spc="300" dirty="0">
                <a:solidFill>
                  <a:srgbClr val="2FDD95"/>
                </a:solidFill>
                <a:latin typeface="Courier New" pitchFamily="34" charset="0"/>
              </a:rPr>
              <a:t>ABOUT THE TRAINER</a:t>
            </a:r>
            <a:endParaRPr lang="en-US" sz="1600"/>
          </a:p>
        </p:txBody>
      </p:sp>
      <p:sp>
        <p:nvSpPr>
          <p:cNvPr id="3" name="Name"/>
          <p:cNvSpPr/>
          <p:nvPr/>
        </p:nvSpPr>
        <p:spPr>
          <a:xfrm>
            <a:off x="731520" y="1300000"/>
            <a:ext cx="7000000" cy="7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2F2"/>
                </a:solidFill>
                <a:latin typeface="Cambria" pitchFamily="34" charset="0"/>
              </a:rPr>
              <a:t>Abdul Aziz Khan</a:t>
            </a:r>
            <a:endParaRPr lang="en-US" sz="3600"/>
          </a:p>
        </p:txBody>
      </p:sp>
      <p:sp>
        <p:nvSpPr>
          <p:cNvPr id="4" name="Role"/>
          <p:cNvSpPr/>
          <p:nvPr/>
        </p:nvSpPr>
        <p:spPr>
          <a:xfrm>
            <a:off x="731520" y="2150000"/>
            <a:ext cx="7000000" cy="45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FDD95"/>
                </a:solidFill>
                <a:latin typeface="Calibri" pitchFamily="34" charset="0"/>
              </a:rPr>
              <a:t>Trainer, BrainsWork</a:t>
            </a:r>
            <a:endParaRPr lang="en-US" sz="1800"/>
          </a:p>
        </p:txBody>
      </p:sp>
      <p:sp>
        <p:nvSpPr>
          <p:cNvPr id="5" name="Bio"/>
          <p:cNvSpPr/>
          <p:nvPr/>
        </p:nvSpPr>
        <p:spPr>
          <a:xfrm>
            <a:off x="731520" y="2750000"/>
            <a:ext cx="7000000" cy="24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3AE"/>
                </a:solidFill>
                <a:latin typeface="Calibri" pitchFamily="34" charset="0"/>
              </a:rPr>
              <a:t>Abdul Aziz Khan is a seasoned Telecom and IT professional, currently working as a DevOps engineer for a Fortune 500 financial company. A long-time practitioner turned teacher, he built this course to make security concepts concrete through real, hands-on labs rather than slides alone. Open, candid, and always glad to talk shop.</a:t>
            </a:r>
            <a:endParaRPr lang="en-US" sz="1400"/>
          </a:p>
        </p:txBody>
      </p:sp>
      <p:sp>
        <p:nvSpPr>
          <p:cNvPr id="6" name="Contact"/>
          <p:cNvSpPr/>
          <p:nvPr/>
        </p:nvSpPr>
        <p:spPr>
          <a:xfrm>
            <a:off x="731520" y="5450000"/>
            <a:ext cx="7000000" cy="4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alibri" pitchFamily="34" charset="0"/>
              </a:rPr>
              <a:t>khan.abdulaziz@gmail.com   |   linkedin.com/in/abdulazizk</a:t>
            </a:r>
            <a:endParaRPr lang="en-US" sz="1300"/>
          </a:p>
        </p:txBody>
      </p:sp>
      <p:pic>
        <p:nvPicPr>
          <p:cNvPr id="7" name="Trainer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0032" y="2057400"/>
            <a:ext cx="2057400" cy="2743200"/>
          </a:xfrm>
          <a:prstGeom prst="rect">
            <a:avLst/>
          </a:prstGeom>
        </p:spPr>
      </p:pic>
      <p:pic>
        <p:nvPicPr>
          <p:cNvPr id="8" name="Brand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2026-10-11T17:43:10Z</dcterms:created>
  <dcterms:modified xsi:type="dcterms:W3CDTF">2026-10-11T17:43:10Z</dcterms:modified>
</cp:coreProperties>
</file>