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3.xml" ContentType="application/vnd.openxmlformats-officedocument.presentationml.slide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9"/>
  </p:sldIdLst>
  <p:notesMasterIdLst>
    <p:notesMasterId r:id="rId14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19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brandLogo.jp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brandLogo.jp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brandLogo.jp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brandLogo.jp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brandLogo.jp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brandLogo.jp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brandLogo.jp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brandLogo.jp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brandLogo.jp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brandLogo.jp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brandLogo.jp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brandLogo.jpg"/></Relationships>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trainerPhoto.jpg"/><Relationship Id="rId3" Type="http://schemas.openxmlformats.org/officeDocument/2006/relationships/image" Target="../media/brandLogo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8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103120"/>
            <a:ext cx="1072591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spc="400" kern="0" dirty="0">
                <a:solidFill>
                  <a:srgbClr val="2FDD9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DAY 08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2743200"/>
            <a:ext cx="10725912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2F2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Reconnaissance — Passive, Active &amp; the Identical-Response Signal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5760720"/>
            <a:ext cx="107259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AA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Tutor — CEH-Track Program</a:t>
            </a:r>
            <a:endParaRPr lang="en-US" sz="1600" dirty="0"/>
          </a:p>
        </p:txBody>
      </p:sp>
      <p:pic>
        <p:nvPicPr>
          <p:cNvPr id="90001" name="Brand 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03152" y="6172200"/>
            <a:ext cx="548640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418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107259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spc="300" kern="0" dirty="0">
                <a:solidFill>
                  <a:srgbClr val="2FDD9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HOOK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10725912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i="1" dirty="0">
                <a:solidFill>
                  <a:srgbClr val="F2F2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mystery service returned the exact same raw response to every probe type I threw at it. That one detail told me everything about it, before reading a line of code.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6400800"/>
            <a:ext cx="112745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AA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security-tutor</a:t>
            </a:r>
            <a:endParaRPr lang="en-US" sz="1100" dirty="0"/>
          </a:p>
        </p:txBody>
      </p:sp>
      <p:pic>
        <p:nvPicPr>
          <p:cNvPr id="90001" name="Brand 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03152" y="6172200"/>
            <a:ext cx="548640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18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1072591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2F2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We'll Cover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914400" y="1645920"/>
            <a:ext cx="10360152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20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Passive vs. active recon</a:t>
            </a:r>
            <a:endParaRPr lang="en-US" sz="20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20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WHOIS &amp; DNS recon</a:t>
            </a:r>
            <a:endParaRPr lang="en-US" sz="20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20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Proving CDN protection with headers, not IP ranges</a:t>
            </a:r>
            <a:endParaRPr lang="en-US" sz="20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20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scanning in a real Docker lab</a:t>
            </a:r>
            <a:endParaRPr lang="en-US" sz="20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20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identical-response signal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6400800"/>
            <a:ext cx="112745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AA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security-tutor</a:t>
            </a:r>
            <a:endParaRPr lang="en-US" sz="1100" dirty="0"/>
          </a:p>
        </p:txBody>
      </p:sp>
      <p:pic>
        <p:nvPicPr>
          <p:cNvPr id="90001" name="Brand 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03152" y="6172200"/>
            <a:ext cx="548640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18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72591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FDD9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Passive vs. Active Recon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554480"/>
            <a:ext cx="10725912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▪"/>
            </a:pPr>
            <a:r>
              <a:rPr lang="en-US" sz="18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a packet of yours reach the target's own infra?</a:t>
            </a:r>
            <a:endParaRPr lang="en-US" sz="1800" dirty="0"/>
          </a:p>
          <a:p>
            <a:pPr marL="342900" indent="-342900">
              <a:lnSpc>
                <a:spcPct val="140000"/>
              </a:lnSpc>
              <a:buSzPct val="100000"/>
              <a:buChar char="▪"/>
            </a:pPr>
            <a:r>
              <a:rPr lang="en-US" sz="18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Passive: WHOIS/DNS — queries a third party</a:t>
            </a:r>
            <a:endParaRPr lang="en-US" sz="1800" dirty="0"/>
          </a:p>
          <a:p>
            <a:pPr marL="342900" indent="-342900">
              <a:lnSpc>
                <a:spcPct val="140000"/>
              </a:lnSpc>
              <a:buSzPct val="100000"/>
              <a:buChar char="▪"/>
            </a:pPr>
            <a:r>
              <a:rPr lang="en-US" sz="18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Active: port scans — touches the target directly, detectable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6400800"/>
            <a:ext cx="112745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AA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security-tutor</a:t>
            </a:r>
            <a:endParaRPr lang="en-US" sz="1100" dirty="0"/>
          </a:p>
        </p:txBody>
      </p:sp>
      <p:pic>
        <p:nvPicPr>
          <p:cNvPr id="90001" name="Brand 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03152" y="6172200"/>
            <a:ext cx="548640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18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72591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FDD9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 WHOIS &amp; DNS Recon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554480"/>
            <a:ext cx="10725912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▪"/>
            </a:pPr>
            <a:r>
              <a:rPr lang="en-US" sz="18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whois anthropic.com: registry locks = anti-hijacking, good sign</a:t>
            </a:r>
            <a:endParaRPr lang="en-US" sz="1800" dirty="0"/>
          </a:p>
          <a:p>
            <a:pPr marL="342900" indent="-342900">
              <a:lnSpc>
                <a:spcPct val="140000"/>
              </a:lnSpc>
              <a:buSzPct val="100000"/>
              <a:buChar char="▪"/>
            </a:pPr>
            <a:r>
              <a:rPr lang="en-US" sz="18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 email redacted — GDPR-driven since 2018</a:t>
            </a:r>
            <a:endParaRPr lang="en-US" sz="1800" dirty="0"/>
          </a:p>
          <a:p>
            <a:pPr marL="342900" indent="-342900">
              <a:lnSpc>
                <a:spcPct val="140000"/>
              </a:lnSpc>
              <a:buSzPct val="100000"/>
              <a:buChar char="▪"/>
            </a:pPr>
            <a:r>
              <a:rPr lang="en-US" sz="18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 NS → nameservers on Cloudflare</a:t>
            </a:r>
            <a:endParaRPr lang="en-US" sz="1800" dirty="0"/>
          </a:p>
          <a:p>
            <a:pPr marL="342900" indent="-342900">
              <a:lnSpc>
                <a:spcPct val="140000"/>
              </a:lnSpc>
              <a:buSzPct val="100000"/>
              <a:buChar char="▪"/>
            </a:pPr>
            <a:r>
              <a:rPr lang="en-US" sz="18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Origin-IP disclosure: attackers hunt the real IP behind a CDN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6400800"/>
            <a:ext cx="112745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AA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security-tutor</a:t>
            </a:r>
            <a:endParaRPr lang="en-US" sz="1100" dirty="0"/>
          </a:p>
        </p:txBody>
      </p:sp>
      <p:pic>
        <p:nvPicPr>
          <p:cNvPr id="90001" name="Brand 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03152" y="6172200"/>
            <a:ext cx="548640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18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72591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FDD9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Proving CDN Protection via Headers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554480"/>
            <a:ext cx="5148438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▪"/>
            </a:pPr>
            <a:r>
              <a:rPr lang="en-US" sz="18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curl -I → server: cloudflare, cf-ray headers</a:t>
            </a:r>
            <a:endParaRPr lang="en-US" sz="1800" dirty="0"/>
          </a:p>
          <a:p>
            <a:pPr marL="342900" indent="-342900">
              <a:lnSpc>
                <a:spcPct val="140000"/>
              </a:lnSpc>
              <a:buSzPct val="100000"/>
              <a:buChar char="▪"/>
            </a:pPr>
            <a:r>
              <a:rPr lang="en-US" sz="18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proof of proxying, not an IP-range guess</a:t>
            </a:r>
            <a:endParaRPr lang="en-US" sz="1800" dirty="0"/>
          </a:p>
          <a:p>
            <a:pPr marL="342900" indent="-342900">
              <a:lnSpc>
                <a:spcPct val="140000"/>
              </a:lnSpc>
              <a:buSzPct val="100000"/>
              <a:buChar char="▪"/>
            </a:pPr>
            <a:r>
              <a:rPr lang="en-US" sz="18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 ranges expand over time; headers stay accurate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245718" y="1554480"/>
            <a:ext cx="521171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3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Header-based verification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245718" y="1965960"/>
            <a:ext cx="5211714" cy="3657600"/>
          </a:xfrm>
          <a:prstGeom prst="roundRect">
            <a:avLst>
              <a:gd name="adj" fmla="val 1500"/>
            </a:avLst>
          </a:prstGeom>
          <a:solidFill>
            <a:srgbClr val="1E2430"/>
          </a:solidFill>
          <a:ln w="12700">
            <a:solidFill>
              <a:srgbClr val="1E243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74318" y="2103120"/>
            <a:ext cx="4754514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2F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curl -I https://anthropic.com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2F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HTTP/2 200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2F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server: cloudflare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2F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cf-ray: 8f2a1b3c9d4e5f6a-SJC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112745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AA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security-tutor</a:t>
            </a:r>
            <a:endParaRPr lang="en-US" sz="1100" dirty="0"/>
          </a:p>
        </p:txBody>
      </p:sp>
      <p:pic>
        <p:nvPicPr>
          <p:cNvPr id="90001" name="Brand 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03152" y="6172200"/>
            <a:ext cx="548640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18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72591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FDD9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Active Scanning — A Real Lab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554480"/>
            <a:ext cx="5148438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▪"/>
            </a:pPr>
            <a:r>
              <a:rPr lang="en-US" sz="18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Isolated Docker network, 127.0.0.1-only, no internet path</a:t>
            </a:r>
            <a:endParaRPr lang="en-US" sz="1800" dirty="0"/>
          </a:p>
          <a:p>
            <a:pPr marL="342900" indent="-342900">
              <a:lnSpc>
                <a:spcPct val="140000"/>
              </a:lnSpc>
              <a:buSzPct val="100000"/>
              <a:buChar char="▪"/>
            </a:pPr>
            <a:r>
              <a:rPr lang="en-US" sz="18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nginx on 8080, mystery nc listener on 9000</a:t>
            </a:r>
            <a:endParaRPr lang="en-US" sz="1800" dirty="0"/>
          </a:p>
          <a:p>
            <a:pPr marL="342900" indent="-342900">
              <a:lnSpc>
                <a:spcPct val="140000"/>
              </a:lnSpc>
              <a:buSzPct val="100000"/>
              <a:buChar char="▪"/>
            </a:pPr>
            <a:r>
              <a:rPr lang="en-US" sz="18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nmap -sV correctly fingerprints nginx 1.29.1</a:t>
            </a:r>
            <a:endParaRPr lang="en-US" sz="1800" dirty="0"/>
          </a:p>
          <a:p>
            <a:pPr marL="342900" indent="-342900">
              <a:lnSpc>
                <a:spcPct val="140000"/>
              </a:lnSpc>
              <a:buSzPct val="100000"/>
              <a:buChar char="▪"/>
            </a:pPr>
            <a:r>
              <a:rPr lang="en-US" sz="18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 9000 comes back unrecognized: cslistener?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245718" y="1554480"/>
            <a:ext cx="521171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3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Real nmap scan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245718" y="1965960"/>
            <a:ext cx="5211714" cy="3657600"/>
          </a:xfrm>
          <a:prstGeom prst="roundRect">
            <a:avLst>
              <a:gd name="adj" fmla="val 1500"/>
            </a:avLst>
          </a:prstGeom>
          <a:solidFill>
            <a:srgbClr val="1E2430"/>
          </a:solidFill>
          <a:ln w="12700">
            <a:solidFill>
              <a:srgbClr val="1E243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74318" y="2103120"/>
            <a:ext cx="4754514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2F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nmap -sV -p 7999-9001 127.0.0.1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2F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8080/tcp open  http    nginx 1.29.1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2F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9000/tcp open  unknown cslistener?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112745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AA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security-tutor</a:t>
            </a:r>
            <a:endParaRPr lang="en-US" sz="1100" dirty="0"/>
          </a:p>
        </p:txBody>
      </p:sp>
      <p:pic>
        <p:nvPicPr>
          <p:cNvPr id="90001" name="Brand 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03152" y="6172200"/>
            <a:ext cx="548640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18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72591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FDD9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Identical-Response Signal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554480"/>
            <a:ext cx="10725912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▪"/>
            </a:pPr>
            <a:r>
              <a:rPr lang="en-US" sz="18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raw response across NULL / GET / Help / SMBProgNeg probes</a:t>
            </a:r>
            <a:endParaRPr lang="en-US" sz="1800" dirty="0"/>
          </a:p>
          <a:p>
            <a:pPr marL="342900" indent="-342900">
              <a:lnSpc>
                <a:spcPct val="140000"/>
              </a:lnSpc>
              <a:buSzPct val="100000"/>
              <a:buChar char="▪"/>
            </a:pPr>
            <a:r>
              <a:rPr lang="en-US" sz="18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services respond differently to different input</a:t>
            </a:r>
            <a:endParaRPr lang="en-US" sz="1800" dirty="0"/>
          </a:p>
          <a:p>
            <a:pPr marL="342900" indent="-342900">
              <a:lnSpc>
                <a:spcPct val="140000"/>
              </a:lnSpc>
              <a:buSzPct val="100000"/>
              <a:buChar char="▪"/>
            </a:pPr>
            <a:r>
              <a:rPr lang="en-US" sz="18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output = not parsing input at all</a:t>
            </a:r>
            <a:endParaRPr lang="en-US" sz="1800" dirty="0"/>
          </a:p>
          <a:p>
            <a:pPr marL="342900" indent="-342900">
              <a:lnSpc>
                <a:spcPct val="140000"/>
              </a:lnSpc>
              <a:buSzPct val="100000"/>
              <a:buChar char="▪"/>
            </a:pPr>
            <a:r>
              <a:rPr lang="en-US" sz="18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nc follow-up confirms the automated flag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6400800"/>
            <a:ext cx="112745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AA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security-tutor</a:t>
            </a:r>
            <a:endParaRPr lang="en-US" sz="1100" dirty="0"/>
          </a:p>
        </p:txBody>
      </p:sp>
      <p:pic>
        <p:nvPicPr>
          <p:cNvPr id="90001" name="Brand 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03152" y="6172200"/>
            <a:ext cx="548640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8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72591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2F2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Common Mistake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737360"/>
            <a:ext cx="5180076" cy="3200400"/>
          </a:xfrm>
          <a:prstGeom prst="roundRect">
            <a:avLst>
              <a:gd name="adj" fmla="val 1714"/>
            </a:avLst>
          </a:prstGeom>
          <a:solidFill>
            <a:srgbClr val="1E2430"/>
          </a:solidFill>
          <a:ln w="12700">
            <a:solidFill>
              <a:srgbClr val="7A2E2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8745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06C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WRONG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14400" y="2286000"/>
            <a:ext cx="4814316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nmap's "filtered" (silent) is the same as "closed."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6277356" y="1737360"/>
            <a:ext cx="5180076" cy="3200400"/>
          </a:xfrm>
          <a:prstGeom prst="roundRect">
            <a:avLst>
              <a:gd name="adj" fmla="val 1714"/>
            </a:avLst>
          </a:prstGeom>
          <a:solidFill>
            <a:srgbClr val="1E2430"/>
          </a:solidFill>
          <a:ln w="12700">
            <a:solidFill>
              <a:srgbClr val="2FDD9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60236" y="18745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FDD9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CORRECT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60236" y="2286000"/>
            <a:ext cx="4814316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 = explicit RST, confirmed nothing listening. Filtered = silence, genuinely ambiguous — likely a firewall.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112745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AA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security-tutor</a:t>
            </a:r>
            <a:endParaRPr lang="en-US" sz="1100" dirty="0"/>
          </a:p>
        </p:txBody>
      </p:sp>
      <p:pic>
        <p:nvPicPr>
          <p:cNvPr id="90001" name="Brand 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03152" y="6172200"/>
            <a:ext cx="548640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18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1072591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2F2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Recap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31520" y="1645920"/>
            <a:ext cx="7315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FDD9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554480" y="1737360"/>
            <a:ext cx="9720072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Passive recon queries third parties; active recon touches the target directly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731520" y="3017520"/>
            <a:ext cx="7315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FDD9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1554480" y="3108960"/>
            <a:ext cx="9720072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CDN/WAF via headers (server, cf-ray), not IP ranges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731520" y="4389120"/>
            <a:ext cx="7315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FDD9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1554480" y="4480560"/>
            <a:ext cx="9720072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Identical responses across different probes = not parsing input — confirm manually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112745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AA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security-tutor</a:t>
            </a:r>
            <a:endParaRPr lang="en-US" sz="1100" dirty="0"/>
          </a:p>
        </p:txBody>
      </p:sp>
      <p:pic>
        <p:nvPicPr>
          <p:cNvPr id="90001" name="Brand 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03152" y="6172200"/>
            <a:ext cx="548640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418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1072591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FDD9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Quiz — Pause and Think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914400" y="1737360"/>
            <a:ext cx="10360152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spcAft>
                <a:spcPts val="1800"/>
              </a:spcAft>
              <a:buNone/>
            </a:pPr>
            <a:r>
              <a:rPr lang="en-US" sz="19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What's the one-sentence test for passive vs. active recon?</a:t>
            </a:r>
            <a:endParaRPr lang="en-US" sz="1900" dirty="0"/>
          </a:p>
          <a:p>
            <a:pPr indent="0" marL="0">
              <a:lnSpc>
                <a:spcPct val="130000"/>
              </a:lnSpc>
              <a:spcAft>
                <a:spcPts val="1800"/>
              </a:spcAft>
              <a:buNone/>
            </a:pPr>
            <a:r>
              <a:rPr lang="en-US" sz="19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Why is header verification more reliable than an IP-range check?</a:t>
            </a:r>
            <a:endParaRPr lang="en-US" sz="1900" dirty="0"/>
          </a:p>
          <a:p>
            <a:pPr indent="0" marL="0">
              <a:lnSpc>
                <a:spcPct val="130000"/>
              </a:lnSpc>
              <a:spcAft>
                <a:spcPts val="1800"/>
              </a:spcAft>
              <a:buNone/>
            </a:pPr>
            <a:r>
              <a:rPr lang="en-US" sz="19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What's the real difference between nmap's "closed" and "filtered," and why does it matter?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457200" y="6400800"/>
            <a:ext cx="112745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AA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security-tutor</a:t>
            </a:r>
            <a:endParaRPr lang="en-US" sz="1100" dirty="0"/>
          </a:p>
        </p:txBody>
      </p:sp>
      <p:pic>
        <p:nvPicPr>
          <p:cNvPr id="90001" name="Brand 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03152" y="6172200"/>
            <a:ext cx="548640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418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828800"/>
            <a:ext cx="10725912" cy="0"/>
          </a:xfrm>
          <a:prstGeom prst="line">
            <a:avLst/>
          </a:prstGeom>
          <a:noFill/>
          <a:ln w="25400">
            <a:solidFill>
              <a:srgbClr val="2FDD9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2103120"/>
            <a:ext cx="10725912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2F2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port number is a convention, not an enforcement mechanism — verify with a real probe, not an assumption.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31520" y="4206240"/>
            <a:ext cx="10725912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9AA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enumeration — finishing Phase 2 with deeper service discovery and directory brute-forcing.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6400800"/>
            <a:ext cx="112745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AA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security-tutor</a:t>
            </a:r>
            <a:endParaRPr lang="en-US" sz="1100" dirty="0"/>
          </a:p>
        </p:txBody>
      </p:sp>
      <p:pic>
        <p:nvPicPr>
          <p:cNvPr id="90001" name="Brand 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03152" y="6172200"/>
            <a:ext cx="548640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losing Slide">
    <p:bg>
      <p:bgPr>
        <a:solidFill>
          <a:srgbClr val="1418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/>
          <p:nvPr/>
        </p:nvSpPr>
        <p:spPr>
          <a:xfrm>
            <a:off x="731520" y="548640"/>
            <a:ext cx="70000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spc="300" dirty="0">
                <a:solidFill>
                  <a:srgbClr val="2FDD95"/>
                </a:solidFill>
                <a:latin typeface="Courier New" pitchFamily="34" charset="0"/>
              </a:rPr>
              <a:t>ABOUT THE TRAINER</a:t>
            </a:r>
            <a:endParaRPr lang="en-US" sz="1600"/>
          </a:p>
        </p:txBody>
      </p:sp>
      <p:sp>
        <p:nvSpPr>
          <p:cNvPr id="3" name="Name"/>
          <p:cNvSpPr/>
          <p:nvPr/>
        </p:nvSpPr>
        <p:spPr>
          <a:xfrm>
            <a:off x="731520" y="1300000"/>
            <a:ext cx="7000000" cy="7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2F2F2"/>
                </a:solidFill>
                <a:latin typeface="Cambria" pitchFamily="34" charset="0"/>
              </a:rPr>
              <a:t>Abdul Aziz Khan</a:t>
            </a:r>
            <a:endParaRPr lang="en-US" sz="3600"/>
          </a:p>
        </p:txBody>
      </p:sp>
      <p:sp>
        <p:nvSpPr>
          <p:cNvPr id="4" name="Role"/>
          <p:cNvSpPr/>
          <p:nvPr/>
        </p:nvSpPr>
        <p:spPr>
          <a:xfrm>
            <a:off x="731520" y="2150000"/>
            <a:ext cx="7000000" cy="45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FDD95"/>
                </a:solidFill>
                <a:latin typeface="Calibri" pitchFamily="34" charset="0"/>
              </a:rPr>
              <a:t>Trainer, BrainsWork</a:t>
            </a:r>
            <a:endParaRPr lang="en-US" sz="1800"/>
          </a:p>
        </p:txBody>
      </p:sp>
      <p:sp>
        <p:nvSpPr>
          <p:cNvPr id="5" name="Bio"/>
          <p:cNvSpPr/>
          <p:nvPr/>
        </p:nvSpPr>
        <p:spPr>
          <a:xfrm>
            <a:off x="731520" y="2750000"/>
            <a:ext cx="7000000" cy="24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AA3AE"/>
                </a:solidFill>
                <a:latin typeface="Calibri" pitchFamily="34" charset="0"/>
              </a:rPr>
              <a:t>Abdul Aziz Khan is a seasoned Telecom and IT professional, currently working as a DevOps engineer for a Fortune 500 financial company. A long-time practitioner turned teacher, he built this course to make security concepts concrete through real, hands-on labs rather than slides alone. Open, candid, and always glad to talk shop.</a:t>
            </a:r>
            <a:endParaRPr lang="en-US" sz="1400"/>
          </a:p>
        </p:txBody>
      </p:sp>
      <p:sp>
        <p:nvSpPr>
          <p:cNvPr id="6" name="Contact"/>
          <p:cNvSpPr/>
          <p:nvPr/>
        </p:nvSpPr>
        <p:spPr>
          <a:xfrm>
            <a:off x="731520" y="5450000"/>
            <a:ext cx="7000000" cy="4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2F2F2"/>
                </a:solidFill>
                <a:latin typeface="Calibri" pitchFamily="34" charset="0"/>
              </a:rPr>
              <a:t>khan.abdulaziz@gmail.com   |   linkedin.com/in/abdulazizk</a:t>
            </a:r>
            <a:endParaRPr lang="en-US" sz="1300"/>
          </a:p>
        </p:txBody>
      </p:sp>
      <p:pic>
        <p:nvPicPr>
          <p:cNvPr id="7" name="Trainer Phot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00032" y="2057400"/>
            <a:ext cx="2057400" cy="2743200"/>
          </a:xfrm>
          <a:prstGeom prst="rect">
            <a:avLst/>
          </a:prstGeom>
        </p:spPr>
      </p:pic>
      <p:pic>
        <p:nvPicPr>
          <p:cNvPr id="8" name="Brand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03152" y="6172200"/>
            <a:ext cx="548640" cy="548640"/>
          </a:xfrm>
          <a:prstGeom prst="rect">
            <a:avLst/>
          </a:prstGeom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2026-10-11T17:43:10Z</dcterms:created>
  <dcterms:modified xsi:type="dcterms:W3CDTF">2026-10-11T17:43:10Z</dcterms:modified>
</cp:coreProperties>
</file>