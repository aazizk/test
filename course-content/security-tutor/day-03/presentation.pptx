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9"/>
  </p:sldIdLst>
  <p:notesMasterIdLst>
    <p:notesMasterId r:id="rId14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brandLogo.jp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brandLogo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brandLogo.jp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brandLogo.jp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brandLogo.jp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brandLogo.jp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brandLogo.jp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brandLogo.jp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brandLogo.jp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brandLogo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brandLogo.jp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brandLogo.jpg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trainerPhoto.jpg"/><Relationship Id="rId3" Type="http://schemas.openxmlformats.org/officeDocument/2006/relationships/image" Target="../media/brandLogo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10312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4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DAY 03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731520" y="274320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TCP, DNS &amp; the Full Request Flow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31520" y="57607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Tutor — CEH-Track Program</a:t>
            </a:r>
            <a:endParaRPr lang="en-US" sz="16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HOOK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731520" y="1188720"/>
            <a:ext cx="10725912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i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happens, step by step, between hitting enter on a URL and a page loading? Today the disconnected facts finally became one continuous mental model.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We'll Cover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914400" y="164592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vs. UDP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TCP three-way handshake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Ports, ephemeral ports &amp; the 4-tuple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basics (A/AAAA, why UDP)</a:t>
            </a:r>
            <a:endParaRPr lang="en-US" sz="20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20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chain: DNS → routing → TCP → HTTP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TCP vs. UDP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TCP: connection-oriented, reliable, ordered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UDP: fire-and-forget, no guarantees, fast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for correctness · UDP for speed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TCP Three-Way Handshake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SYN (seq number)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Server → SYN-ACK (seq + ack = client seq+1)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→ ACK (ack = server seq+1)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then is the connection open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Handshake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Client          Server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SYN  (seq=x)   →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←  SYN-ACK (seq=y, ack=x+1)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ACK  (ack=y+1) →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Ports &amp; the 4-Tuple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Well-known ports: 80 (HTTP), 443 (HTTPS)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Ephemeral ports: temporary, client-side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4-tuple = srcIP + srcPort + dstIP + dstPort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DNS Basics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1072591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records (IPv4), AAAA records (IPv6)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runs over UDP — small, fast, retry on loss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Full Chain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731520" y="1554480"/>
            <a:ext cx="5148438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DNS resolves name → IP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Routing delivers packets (local/ARP or gateway)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TCP handshake opens the connection</a:t>
            </a:r>
            <a:endParaRPr lang="en-US" sz="1800" dirty="0"/>
          </a:p>
          <a:p>
            <a:pPr marL="342900" indent="-342900">
              <a:lnSpc>
                <a:spcPct val="140000"/>
              </a:lnSpc>
              <a:buSzPct val="100000"/>
              <a:buChar char="▪"/>
            </a:pPr>
            <a:r>
              <a:rPr lang="en-US" sz="18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HTTP request/response runs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245718" y="1554480"/>
            <a:ext cx="521171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3A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End-to-end flow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245718" y="1965960"/>
            <a:ext cx="5211714" cy="3657600"/>
          </a:xfrm>
          <a:prstGeom prst="roundRect">
            <a:avLst>
              <a:gd name="adj" fmla="val 1500"/>
            </a:avLst>
          </a:prstGeom>
          <a:solidFill>
            <a:srgbClr val="1E2430"/>
          </a:solidFill>
          <a:ln w="12700">
            <a:solidFill>
              <a:srgbClr val="1E243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74318" y="2103120"/>
            <a:ext cx="4754514" cy="3383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DNS lookup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→ Routing / delivery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→ TCP handshake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→ HTTP request/response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10725912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Mistake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7A2E2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914400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06C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WRONG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14400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"just happens" invisibly before everything else.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277356" y="1737360"/>
            <a:ext cx="5180076" cy="3200400"/>
          </a:xfrm>
          <a:prstGeom prst="roundRect">
            <a:avLst>
              <a:gd name="adj" fmla="val 1714"/>
            </a:avLst>
          </a:prstGeom>
          <a:solidFill>
            <a:srgbClr val="1E2430"/>
          </a:solidFill>
          <a:ln w="12700">
            <a:solidFill>
              <a:srgbClr val="2FDD9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60236" y="18745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CORRECT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60236" y="228600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DNS is a real step with its own protocol, transport choice, and failure modes — worth watching for spoofing.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Recap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731520" y="16459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1554480" y="17373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TCP trades speed for reliability via the handshake; UDP trades reliability for speed</a:t>
            </a:r>
            <a:endParaRPr lang="en-US" sz="1900" dirty="0"/>
          </a:p>
        </p:txBody>
      </p:sp>
      <p:sp>
        <p:nvSpPr>
          <p:cNvPr id="5" name="Text 3"/>
          <p:cNvSpPr/>
          <p:nvPr/>
        </p:nvSpPr>
        <p:spPr>
          <a:xfrm>
            <a:off x="731520" y="30175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1554480" y="31089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4-tuple is what makes individual connections distinguishable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731520" y="4389120"/>
            <a:ext cx="7315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FDD9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1554480" y="4480560"/>
            <a:ext cx="972007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request is a chain: DNS → routing → TCP handshake → HTTP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548640"/>
            <a:ext cx="1072591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FDD9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Quiz — Pause and Think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914400" y="1737360"/>
            <a:ext cx="10360152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Why does DNS use UDP instead of TCP?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In the three-way handshake, what does the server's SYN-ACK ack number equal?</a:t>
            </a:r>
            <a:endParaRPr lang="en-US" sz="1900" dirty="0"/>
          </a:p>
          <a:p>
            <a:pPr indent="0" marL="0">
              <a:lnSpc>
                <a:spcPct val="130000"/>
              </a:lnSpc>
              <a:spcAft>
                <a:spcPts val="1800"/>
              </a:spcAft>
              <a:buNone/>
            </a:pPr>
            <a:r>
              <a:rPr lang="en-US" sz="1900" dirty="0">
                <a:solidFill>
                  <a:srgbClr val="F2F2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Name all four parts of the 4-tuple — why not just the two IPs?</a:t>
            </a:r>
            <a:endParaRPr lang="en-US" sz="19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" y="1828800"/>
            <a:ext cx="10725912" cy="0"/>
          </a:xfrm>
          <a:prstGeom prst="line">
            <a:avLst/>
          </a:prstGeom>
          <a:noFill/>
          <a:ln w="25400">
            <a:solidFill>
              <a:srgbClr val="2FDD95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31520" y="2103120"/>
            <a:ext cx="10725912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2F2F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real connection is a chain of distinct steps — know the chain to know where things break or get attacked.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31520" y="4206240"/>
            <a:ext cx="10725912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Day 4 — into Linux fundamentals: permissions, users, and the filesystem.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457200" y="6400800"/>
            <a:ext cx="1127455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3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security-tutor</a:t>
            </a:r>
            <a:endParaRPr lang="en-US" sz="1100" dirty="0"/>
          </a:p>
        </p:txBody>
      </p:sp>
      <p:pic>
        <p:nvPicPr>
          <p:cNvPr id="90001" name="Brand Log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Closing Slide">
    <p:bg>
      <p:bgPr>
        <a:solidFill>
          <a:srgbClr val="14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"/>
          <p:cNvSpPr/>
          <p:nvPr/>
        </p:nvSpPr>
        <p:spPr>
          <a:xfrm>
            <a:off x="731520" y="548640"/>
            <a:ext cx="70000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spc="300" dirty="0">
                <a:solidFill>
                  <a:srgbClr val="2FDD95"/>
                </a:solidFill>
                <a:latin typeface="Courier New" pitchFamily="34" charset="0"/>
              </a:rPr>
              <a:t>ABOUT THE TRAINER</a:t>
            </a:r>
            <a:endParaRPr lang="en-US" sz="1600"/>
          </a:p>
        </p:txBody>
      </p:sp>
      <p:sp>
        <p:nvSpPr>
          <p:cNvPr id="3" name="Name"/>
          <p:cNvSpPr/>
          <p:nvPr/>
        </p:nvSpPr>
        <p:spPr>
          <a:xfrm>
            <a:off x="731520" y="1300000"/>
            <a:ext cx="7000000" cy="7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2F2F2"/>
                </a:solidFill>
                <a:latin typeface="Cambria" pitchFamily="34" charset="0"/>
              </a:rPr>
              <a:t>Abdul Aziz Khan</a:t>
            </a:r>
            <a:endParaRPr lang="en-US" sz="3600"/>
          </a:p>
        </p:txBody>
      </p:sp>
      <p:sp>
        <p:nvSpPr>
          <p:cNvPr id="4" name="Role"/>
          <p:cNvSpPr/>
          <p:nvPr/>
        </p:nvSpPr>
        <p:spPr>
          <a:xfrm>
            <a:off x="731520" y="2150000"/>
            <a:ext cx="7000000" cy="45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FDD95"/>
                </a:solidFill>
                <a:latin typeface="Calibri" pitchFamily="34" charset="0"/>
              </a:rPr>
              <a:t>Trainer, BrainsWork</a:t>
            </a:r>
            <a:endParaRPr lang="en-US" sz="1800"/>
          </a:p>
        </p:txBody>
      </p:sp>
      <p:sp>
        <p:nvSpPr>
          <p:cNvPr id="5" name="Bio"/>
          <p:cNvSpPr/>
          <p:nvPr/>
        </p:nvSpPr>
        <p:spPr>
          <a:xfrm>
            <a:off x="731520" y="2750000"/>
            <a:ext cx="7000000" cy="2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AA3AE"/>
                </a:solidFill>
                <a:latin typeface="Calibri" pitchFamily="34" charset="0"/>
              </a:rPr>
              <a:t>Abdul Aziz Khan is a seasoned Telecom and IT professional, currently working as a DevOps engineer for a Fortune 500 financial company. A long-time practitioner turned teacher, he built this course to make security concepts concrete through real, hands-on labs rather than slides alone. Open, candid, and always glad to talk shop.</a:t>
            </a:r>
            <a:endParaRPr lang="en-US" sz="1400"/>
          </a:p>
        </p:txBody>
      </p:sp>
      <p:sp>
        <p:nvSpPr>
          <p:cNvPr id="6" name="Contact"/>
          <p:cNvSpPr/>
          <p:nvPr/>
        </p:nvSpPr>
        <p:spPr>
          <a:xfrm>
            <a:off x="731520" y="5450000"/>
            <a:ext cx="7000000" cy="400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F2F2F2"/>
                </a:solidFill>
                <a:latin typeface="Calibri" pitchFamily="34" charset="0"/>
              </a:rPr>
              <a:t>khan.abdulaziz@gmail.com   |   linkedin.com/in/abdulazizk</a:t>
            </a:r>
            <a:endParaRPr lang="en-US" sz="1300"/>
          </a:p>
        </p:txBody>
      </p:sp>
      <p:pic>
        <p:nvPicPr>
          <p:cNvPr id="7" name="Trainer Photo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0032" y="2057400"/>
            <a:ext cx="2057400" cy="2743200"/>
          </a:xfrm>
          <a:prstGeom prst="rect">
            <a:avLst/>
          </a:prstGeom>
        </p:spPr>
      </p:pic>
      <p:pic>
        <p:nvPicPr>
          <p:cNvPr id="8" name="Brand Logo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03152" y="6172200"/>
            <a:ext cx="548640" cy="548640"/>
          </a:xfrm>
          <a:prstGeom prst="rect">
            <a:avLst/>
          </a:prstGeom>
        </p:spPr>
      </p:pic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2026-10-11T17:43:10Z</dcterms:created>
  <dcterms:modified xsi:type="dcterms:W3CDTF">2026-10-11T17:43:10Z</dcterms:modified>
</cp:coreProperties>
</file>