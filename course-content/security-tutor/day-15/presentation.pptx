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Layouts/slideLayout1.xml" ContentType="application/vnd.openxmlformats-officedocument.presentationml.slideLayout+xml"/>
  <Override PartName="/ppt/theme/theme1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docProps/core.xml" ContentType="application/vnd.openxmlformats-package.core-properties+xml"/>
  <Override PartName="/docProps/app.xml" ContentType="application/vnd.openxmlformats-officedocument.extended-properties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notesMasterIdLst>
    <p:notesMasterId r:id="rId13"/>
  </p:notesMasterIdLst>
  <p:sldSz cx="12188952" cy="6858000"/>
  <p:notesSz cx="6858000" cy="12188952"/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notesMaster" Target="notesMasters/notesMaster1.xml"/><Relationship Id="rId14" Type="http://schemas.openxmlformats.org/officeDocument/2006/relationships/presProps" Target="presProps.xml"/><Relationship Id="rId15" Type="http://schemas.openxmlformats.org/officeDocument/2006/relationships/viewProps" Target="viewProps.xml"/><Relationship Id="rId16" Type="http://schemas.openxmlformats.org/officeDocument/2006/relationships/theme" Target="theme/theme1.xml"/><Relationship Id="rId1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brandLogo.jpg"/></Relationships>
</file>

<file path=ppt/slides/_rels/slide2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brandLogo.jpg"/></Relationships>
</file>

<file path=ppt/slides/_rels/slide3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brandLogo.jpg"/></Relationships>
</file>

<file path=ppt/slides/_rels/slide4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brandLogo.jpg"/></Relationships>
</file>

<file path=ppt/slides/_rels/slide5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brandLogo.jpg"/></Relationships>
</file>

<file path=ppt/slides/_rels/slide6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brandLogo.jpg"/></Relationships>
</file>

<file path=ppt/slides/_rels/slide7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brandLogo.jpg"/></Relationships>
</file>

<file path=ppt/slides/_rels/slide8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brandLogo.jpg"/></Relationships>
</file>

<file path=ppt/slides/_rels/slide9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brandLogo.jpg"/></Relationships>
</file>

<file path=ppt/slides/_rels/slide10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brandLogo.jpg"/></Relationships>
</file>

<file path=ppt/slides/_rels/slide1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trainerPhoto.jpg"/><Relationship Id="rId3" Type="http://schemas.openxmlformats.org/officeDocument/2006/relationships/image" Target="../media/brandLogo.jp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4181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Label"/>
          <p:cNvSpPr/>
          <p:nvPr/>
        </p:nvSpPr>
        <p:spPr>
          <a:xfrm>
            <a:off x="731520" y="2103120"/>
            <a:ext cx="10725912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2200" spc="400" dirty="0">
                <a:solidFill>
                  <a:srgbClr val="2FDD95"/>
                </a:solidFill>
                <a:latin typeface="Courier New" pitchFamily="34" charset="0"/>
              </a:rPr>
              <a:t>DAY 15</a:t>
            </a:r>
            <a:endParaRPr lang="en-US" sz="2200"/>
          </a:p>
        </p:txBody>
      </p:sp>
      <p:sp>
        <p:nvSpPr>
          <p:cNvPr id="3" name="Title"/>
          <p:cNvSpPr/>
          <p:nvPr/>
        </p:nvSpPr>
        <p:spPr>
          <a:xfrm>
            <a:off x="731520" y="2743200"/>
            <a:ext cx="10725912" cy="1828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4000" b="1" dirty="0">
                <a:solidFill>
                  <a:srgbClr val="F2F2F2"/>
                </a:solidFill>
                <a:latin typeface="Cambria" pitchFamily="34" charset="0"/>
              </a:rPr>
              <a:t>CSRF: When the Victim's Own Browser Signs the Attacker's Check</a:t>
            </a:r>
            <a:endParaRPr lang="en-US" sz="4000"/>
          </a:p>
        </p:txBody>
      </p:sp>
      <p:sp>
        <p:nvSpPr>
          <p:cNvPr id="4" name="Subtitle"/>
          <p:cNvSpPr/>
          <p:nvPr/>
        </p:nvSpPr>
        <p:spPr>
          <a:xfrm>
            <a:off x="731520" y="5760720"/>
            <a:ext cx="10725912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9AA3AE"/>
                </a:solidFill>
                <a:latin typeface="Calibri" pitchFamily="34" charset="0"/>
              </a:rPr>
              <a:t>Security Tutor — CEH-Track Program</a:t>
            </a:r>
            <a:endParaRPr lang="en-US" sz="1600"/>
          </a:p>
        </p:txBody>
      </p:sp>
      <p:pic>
        <p:nvPicPr>
          <p:cNvPr id="90001" name="Brand Logo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503152" y="6172200"/>
            <a:ext cx="548640" cy="548640"/>
          </a:xfrm>
          <a:prstGeom prst="rect">
            <a:avLst/>
          </a:prstGeom>
        </p:spPr>
      </p:pic>
    </p:spTree>
  </p:cSld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4181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Label"/>
          <p:cNvSpPr/>
          <p:nvPr/>
        </p:nvSpPr>
        <p:spPr>
          <a:xfrm>
            <a:off x="731520" y="548640"/>
            <a:ext cx="10725912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600" spc="300" dirty="0">
                <a:solidFill>
                  <a:srgbClr val="2FDD95"/>
                </a:solidFill>
                <a:latin typeface="Courier New" pitchFamily="34" charset="0"/>
              </a:rPr>
              <a:t>THE HOOK</a:t>
            </a:r>
            <a:endParaRPr lang="en-US" sz="1600"/>
          </a:p>
        </p:txBody>
      </p:sp>
      <p:sp>
        <p:nvSpPr>
          <p:cNvPr id="4" name="Body"/>
          <p:cNvSpPr/>
          <p:nvPr/>
        </p:nvSpPr>
        <p:spPr>
          <a:xfrm>
            <a:off x="731520" y="1300000"/>
            <a:ext cx="10725912" cy="4200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-228600" marL="228600">
              <a:buFont typeface="Arial"/>
              <a:buChar char="•"/>
            </a:pPr>
            <a:r>
              <a:rPr lang="en-US" sz="1800" dirty="0">
                <a:solidFill>
                  <a:srgbClr val="9AA3AE"/>
                </a:solidFill>
                <a:latin typeface="Calibri" pitchFamily="34" charset="0"/>
              </a:rPr>
              <a:t>I visited a page today that said "Free Prizes!</a:t>
            </a:r>
          </a:p>
          <a:p>
            <a:pPr indent="-228600" marL="228600">
              <a:buFont typeface="Arial"/>
              <a:buChar char="•"/>
            </a:pPr>
            <a:r>
              <a:rPr lang="en-US" sz="1800" dirty="0">
                <a:solidFill>
                  <a:srgbClr val="9AA3AE"/>
                </a:solidFill>
                <a:latin typeface="Calibri" pitchFamily="34" charset="0"/>
              </a:rPr>
              <a:t>Click to claim!" I didn't click anything.</a:t>
            </a:r>
          </a:p>
          <a:p>
            <a:pPr indent="-228600" marL="228600">
              <a:buFont typeface="Arial"/>
              <a:buChar char="•"/>
            </a:pPr>
            <a:r>
              <a:rPr lang="en-US" sz="1800" dirty="0">
                <a:solidFill>
                  <a:srgbClr val="9AA3AE"/>
                </a:solidFill>
                <a:latin typeface="Calibri" pitchFamily="34" charset="0"/>
              </a:rPr>
              <a:t>I didn't type a password.</a:t>
            </a:r>
          </a:p>
        </p:txBody>
      </p:sp>
      <p:pic>
        <p:nvPicPr>
          <p:cNvPr id="90001" name="Brand Logo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503152" y="6172200"/>
            <a:ext cx="548640" cy="548640"/>
          </a:xfrm>
          <a:prstGeom prst="rect">
            <a:avLst/>
          </a:prstGeom>
        </p:spPr>
      </p:pic>
    </p:spTree>
  </p:cSld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4181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Label"/>
          <p:cNvSpPr/>
          <p:nvPr/>
        </p:nvSpPr>
        <p:spPr>
          <a:xfrm>
            <a:off x="731520" y="548640"/>
            <a:ext cx="10725912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600" spc="300" dirty="0">
                <a:solidFill>
                  <a:srgbClr val="2FDD95"/>
                </a:solidFill>
                <a:latin typeface="Courier New" pitchFamily="34" charset="0"/>
              </a:rPr>
              <a:t>WHAT WE'LL COVER</a:t>
            </a:r>
            <a:endParaRPr lang="en-US" sz="1600"/>
          </a:p>
        </p:txBody>
      </p:sp>
      <p:sp>
        <p:nvSpPr>
          <p:cNvPr id="4" name="Body"/>
          <p:cNvSpPr/>
          <p:nvPr/>
        </p:nvSpPr>
        <p:spPr>
          <a:xfrm>
            <a:off x="731520" y="1300000"/>
            <a:ext cx="10725912" cy="4200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-228600" marL="228600">
              <a:buFont typeface="Arial"/>
              <a:buChar char="•"/>
            </a:pPr>
            <a:r>
              <a:rPr lang="en-US" sz="1800" dirty="0">
                <a:solidFill>
                  <a:srgbClr val="9AA3AE"/>
                </a:solidFill>
                <a:latin typeface="Calibri" pitchFamily="34" charset="0"/>
              </a:rPr>
              <a:t>what CSRF actually abuses</a:t>
            </a:r>
          </a:p>
          <a:p>
            <a:pPr indent="-228600" marL="228600">
              <a:buFont typeface="Arial"/>
              <a:buChar char="•"/>
            </a:pPr>
            <a:r>
              <a:rPr lang="en-US" sz="1800" dirty="0">
                <a:solidFill>
                  <a:srgbClr val="9AA3AE"/>
                </a:solidFill>
                <a:latin typeface="Calibri" pitchFamily="34" charset="0"/>
              </a:rPr>
              <a:t>building and running the real attack</a:t>
            </a:r>
          </a:p>
          <a:p>
            <a:pPr indent="-228600" marL="228600">
              <a:buFont typeface="Arial"/>
              <a:buChar char="•"/>
            </a:pPr>
            <a:r>
              <a:rPr lang="en-US" sz="1800" dirty="0">
                <a:solidFill>
                  <a:srgbClr val="9AA3AE"/>
                </a:solidFill>
                <a:latin typeface="Calibri" pitchFamily="34" charset="0"/>
              </a:rPr>
              <a:t>the JSON attack and why it got blocked</a:t>
            </a:r>
          </a:p>
          <a:p>
            <a:pPr indent="-228600" marL="228600">
              <a:buFont typeface="Arial"/>
              <a:buChar char="•"/>
            </a:pPr>
            <a:r>
              <a:rPr lang="en-US" sz="1800" dirty="0">
                <a:solidFill>
                  <a:srgbClr val="9AA3AE"/>
                </a:solidFill>
                <a:latin typeface="Calibri" pitchFamily="34" charset="0"/>
              </a:rPr>
              <a:t>Common mistake &amp; correction</a:t>
            </a:r>
          </a:p>
          <a:p>
            <a:pPr indent="-228600" marL="228600">
              <a:buFont typeface="Arial"/>
              <a:buChar char="•"/>
            </a:pPr>
            <a:r>
              <a:rPr lang="en-US" sz="1800" dirty="0">
                <a:solidFill>
                  <a:srgbClr val="9AA3AE"/>
                </a:solidFill>
                <a:latin typeface="Calibri" pitchFamily="34" charset="0"/>
              </a:rPr>
              <a:t>Recap &amp; quiz</a:t>
            </a:r>
          </a:p>
        </p:txBody>
      </p:sp>
      <p:pic>
        <p:nvPicPr>
          <p:cNvPr id="90001" name="Brand Logo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503152" y="6172200"/>
            <a:ext cx="548640" cy="548640"/>
          </a:xfrm>
          <a:prstGeom prst="rect">
            <a:avLst/>
          </a:prstGeom>
        </p:spPr>
      </p:pic>
    </p:spTree>
  </p:cSld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4181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Label"/>
          <p:cNvSpPr/>
          <p:nvPr/>
        </p:nvSpPr>
        <p:spPr>
          <a:xfrm>
            <a:off x="731520" y="548640"/>
            <a:ext cx="10725912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600" spc="300" dirty="0">
                <a:solidFill>
                  <a:srgbClr val="2FDD95"/>
                </a:solidFill>
                <a:latin typeface="Courier New" pitchFamily="34" charset="0"/>
              </a:rPr>
              <a:t>CONCEPT</a:t>
            </a:r>
            <a:endParaRPr lang="en-US" sz="1600"/>
          </a:p>
        </p:txBody>
      </p:sp>
      <p:sp>
        <p:nvSpPr>
          <p:cNvPr id="3" name="Title"/>
          <p:cNvSpPr/>
          <p:nvPr/>
        </p:nvSpPr>
        <p:spPr>
          <a:xfrm>
            <a:off x="731520" y="1150000"/>
            <a:ext cx="10725912" cy="900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3200" b="1" dirty="0">
                <a:solidFill>
                  <a:srgbClr val="F2F2F2"/>
                </a:solidFill>
                <a:latin typeface="Cambria" pitchFamily="34" charset="0"/>
              </a:rPr>
              <a:t>what CSRF actually abuses</a:t>
            </a:r>
            <a:endParaRPr lang="en-US" sz="3200"/>
          </a:p>
        </p:txBody>
      </p:sp>
      <p:sp>
        <p:nvSpPr>
          <p:cNvPr id="4" name="Body"/>
          <p:cNvSpPr/>
          <p:nvPr/>
        </p:nvSpPr>
        <p:spPr>
          <a:xfrm>
            <a:off x="731520" y="2200000"/>
            <a:ext cx="10725912" cy="4200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-228600" marL="228600">
              <a:buFont typeface="Arial"/>
              <a:buChar char="•"/>
            </a:pPr>
            <a:r>
              <a:rPr lang="en-US" sz="1800" dirty="0">
                <a:solidFill>
                  <a:srgbClr val="9AA3AE"/>
                </a:solidFill>
                <a:latin typeface="Calibri" pitchFamily="34" charset="0"/>
              </a:rPr>
              <a:t>Here's the mechanism.</a:t>
            </a:r>
          </a:p>
          <a:p>
            <a:pPr indent="-228600" marL="228600">
              <a:buFont typeface="Arial"/>
              <a:buChar char="•"/>
            </a:pPr>
            <a:r>
              <a:rPr lang="en-US" sz="1800" dirty="0">
                <a:solidFill>
                  <a:srgbClr val="9AA3AE"/>
                </a:solidFill>
                <a:latin typeface="Calibri" pitchFamily="34" charset="0"/>
              </a:rPr>
              <a:t>When your browser sends a cookie, it decides whether to attach that cookie based on the *destination* of the request...</a:t>
            </a:r>
          </a:p>
          <a:p>
            <a:pPr indent="-228600" marL="228600">
              <a:buFont typeface="Arial"/>
              <a:buChar char="•"/>
            </a:pPr>
            <a:r>
              <a:rPr lang="en-US" sz="1800" dirty="0">
                <a:solidFill>
                  <a:srgbClr val="9AA3AE"/>
                </a:solidFill>
                <a:latin typeface="Calibri" pitchFamily="34" charset="0"/>
              </a:rPr>
              <a:t>So if I'm logged into `bank.example.com` right now, with a valid session cookie sitting in my browser, and I then...</a:t>
            </a:r>
          </a:p>
          <a:p>
            <a:pPr indent="-228600" marL="228600">
              <a:buFont typeface="Arial"/>
              <a:buChar char="•"/>
            </a:pPr>
            <a:r>
              <a:rPr lang="en-US" sz="1800" dirty="0">
                <a:solidFill>
                  <a:srgbClr val="9AA3AE"/>
                </a:solidFill>
                <a:latin typeface="Calibri" pitchFamily="34" charset="0"/>
              </a:rPr>
              <a:t>My browser doesn't ask "hey, does this request actually come from a page the bank trusts?" It just sees "this...</a:t>
            </a:r>
          </a:p>
        </p:txBody>
      </p:sp>
      <p:pic>
        <p:nvPicPr>
          <p:cNvPr id="90001" name="Brand Logo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503152" y="6172200"/>
            <a:ext cx="548640" cy="548640"/>
          </a:xfrm>
          <a:prstGeom prst="rect">
            <a:avLst/>
          </a:prstGeom>
        </p:spPr>
      </p:pic>
    </p:spTree>
  </p:cSld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4181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Label"/>
          <p:cNvSpPr/>
          <p:nvPr/>
        </p:nvSpPr>
        <p:spPr>
          <a:xfrm>
            <a:off x="731520" y="548640"/>
            <a:ext cx="10725912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600" spc="300" dirty="0">
                <a:solidFill>
                  <a:srgbClr val="2FDD95"/>
                </a:solidFill>
                <a:latin typeface="Courier New" pitchFamily="34" charset="0"/>
              </a:rPr>
              <a:t>CONCEPT</a:t>
            </a:r>
            <a:endParaRPr lang="en-US" sz="1600"/>
          </a:p>
        </p:txBody>
      </p:sp>
      <p:sp>
        <p:nvSpPr>
          <p:cNvPr id="3" name="Title"/>
          <p:cNvSpPr/>
          <p:nvPr/>
        </p:nvSpPr>
        <p:spPr>
          <a:xfrm>
            <a:off x="731520" y="1150000"/>
            <a:ext cx="10725912" cy="900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3200" b="1" dirty="0">
                <a:solidFill>
                  <a:srgbClr val="F2F2F2"/>
                </a:solidFill>
                <a:latin typeface="Cambria" pitchFamily="34" charset="0"/>
              </a:rPr>
              <a:t>building and running the real attack</a:t>
            </a:r>
            <a:endParaRPr lang="en-US" sz="3200"/>
          </a:p>
        </p:txBody>
      </p:sp>
      <p:sp>
        <p:nvSpPr>
          <p:cNvPr id="4" name="Body"/>
          <p:cNvSpPr/>
          <p:nvPr/>
        </p:nvSpPr>
        <p:spPr>
          <a:xfrm>
            <a:off x="731520" y="2200000"/>
            <a:ext cx="10725912" cy="4200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-228600" marL="228600">
              <a:buFont typeface="Arial"/>
              <a:buChar char="•"/>
            </a:pPr>
            <a:r>
              <a:rPr lang="en-US" sz="1800" dirty="0">
                <a:solidFill>
                  <a:srgbClr val="9AA3AE"/>
                </a:solidFill>
                <a:latin typeface="Calibri" pitchFamily="34" charset="0"/>
              </a:rPr>
              <a:t>I built two small Flask apps to make this concrete — not a diagram, an actual attack.</a:t>
            </a:r>
          </a:p>
          <a:p>
            <a:pPr indent="-228600" marL="228600">
              <a:buFont typeface="Arial"/>
              <a:buChar char="•"/>
            </a:pPr>
            <a:r>
              <a:rPr lang="en-US" sz="1800" dirty="0">
                <a:solidFill>
                  <a:srgbClr val="9AA3AE"/>
                </a:solidFill>
                <a:latin typeface="Calibri" pitchFamily="34" charset="0"/>
              </a:rPr>
              <a:t>One, `bank.py`, is the victim: it has a `/change-email` endpoint that trusts the session cookie alone, no questions asked.</a:t>
            </a:r>
          </a:p>
          <a:p>
            <a:pPr indent="-228600" marL="228600">
              <a:buFont typeface="Arial"/>
              <a:buChar char="•"/>
            </a:pPr>
            <a:r>
              <a:rPr lang="en-US" sz="1800" dirty="0">
                <a:solidFill>
                  <a:srgbClr val="9AA3AE"/>
                </a:solidFill>
                <a:latin typeface="Calibri" pitchFamily="34" charset="0"/>
              </a:rPr>
              <a:t>The other, `evil.py`, is the attacker's page.</a:t>
            </a:r>
          </a:p>
          <a:p>
            <a:pPr indent="-228600" marL="228600">
              <a:buFont typeface="Arial"/>
              <a:buChar char="•"/>
            </a:pPr>
            <a:r>
              <a:rPr lang="en-US" sz="1800" dirty="0">
                <a:solidFill>
                  <a:srgbClr val="9AA3AE"/>
                </a:solidFill>
                <a:latin typeface="Calibri" pitchFamily="34" charset="0"/>
              </a:rPr>
              <a:t>The evil page's HTML was almost insultingly simple: a hidden form targeting the bank's `/change-email` endpoint, pre-filled with `email=attacker@evil.com`, and...</a:t>
            </a:r>
          </a:p>
        </p:txBody>
      </p:sp>
      <p:pic>
        <p:nvPicPr>
          <p:cNvPr id="90001" name="Brand Logo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503152" y="6172200"/>
            <a:ext cx="548640" cy="548640"/>
          </a:xfrm>
          <a:prstGeom prst="rect">
            <a:avLst/>
          </a:prstGeom>
        </p:spPr>
      </p:pic>
    </p:spTree>
  </p:cSld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4181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Label"/>
          <p:cNvSpPr/>
          <p:nvPr/>
        </p:nvSpPr>
        <p:spPr>
          <a:xfrm>
            <a:off x="731520" y="548640"/>
            <a:ext cx="10725912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600" spc="300" dirty="0">
                <a:solidFill>
                  <a:srgbClr val="2FDD95"/>
                </a:solidFill>
                <a:latin typeface="Courier New" pitchFamily="34" charset="0"/>
              </a:rPr>
              <a:t>CONCEPT</a:t>
            </a:r>
            <a:endParaRPr lang="en-US" sz="1600"/>
          </a:p>
        </p:txBody>
      </p:sp>
      <p:sp>
        <p:nvSpPr>
          <p:cNvPr id="3" name="Title"/>
          <p:cNvSpPr/>
          <p:nvPr/>
        </p:nvSpPr>
        <p:spPr>
          <a:xfrm>
            <a:off x="731520" y="1150000"/>
            <a:ext cx="10725912" cy="900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3200" b="1" dirty="0">
                <a:solidFill>
                  <a:srgbClr val="F2F2F2"/>
                </a:solidFill>
                <a:latin typeface="Cambria" pitchFamily="34" charset="0"/>
              </a:rPr>
              <a:t>the JSON attack and why it got blocked</a:t>
            </a:r>
            <a:endParaRPr lang="en-US" sz="3200"/>
          </a:p>
        </p:txBody>
      </p:sp>
      <p:sp>
        <p:nvSpPr>
          <p:cNvPr id="4" name="Body"/>
          <p:cNvSpPr/>
          <p:nvPr/>
        </p:nvSpPr>
        <p:spPr>
          <a:xfrm>
            <a:off x="731520" y="2200000"/>
            <a:ext cx="10725912" cy="4200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-228600" marL="228600">
              <a:buFont typeface="Arial"/>
              <a:buChar char="•"/>
            </a:pPr>
            <a:r>
              <a:rPr lang="en-US" sz="1800" dirty="0">
                <a:solidFill>
                  <a:srgbClr val="9AA3AE"/>
                </a:solidFill>
                <a:latin typeface="Calibri" pitchFamily="34" charset="0"/>
              </a:rPr>
              <a:t>I wanted to go further and test something I was curious about myself: would the same trick work against a...</a:t>
            </a:r>
          </a:p>
          <a:p>
            <a:pPr indent="-228600" marL="228600">
              <a:buFont typeface="Arial"/>
              <a:buChar char="•"/>
            </a:pPr>
            <a:r>
              <a:rPr lang="en-US" sz="1800" dirty="0">
                <a:solidFill>
                  <a:srgbClr val="9AA3AE"/>
                </a:solidFill>
                <a:latin typeface="Calibri" pitchFamily="34" charset="0"/>
              </a:rPr>
              <a:t>I added a second attack to the evil page — this time using JavaScript's `fetch()` to send `Content-Type: application/json` with...</a:t>
            </a:r>
          </a:p>
          <a:p>
            <a:pPr indent="-228600" marL="228600">
              <a:buFont typeface="Arial"/>
              <a:buChar char="•"/>
            </a:pPr>
            <a:r>
              <a:rPr lang="en-US" sz="1800" dirty="0">
                <a:solidFill>
                  <a:srgbClr val="9AA3AE"/>
                </a:solidFill>
                <a:latin typeface="Calibri" pitchFamily="34" charset="0"/>
              </a:rPr>
              <a:t>Here's the part that actually surprised me.</a:t>
            </a:r>
          </a:p>
          <a:p>
            <a:pPr indent="-228600" marL="228600">
              <a:buFont typeface="Arial"/>
              <a:buChar char="•"/>
            </a:pPr>
            <a:r>
              <a:rPr lang="en-US" sz="1800" dirty="0">
                <a:solidFill>
                  <a:srgbClr val="9AA3AE"/>
                </a:solidFill>
                <a:latin typeface="Calibri" pitchFamily="34" charset="0"/>
              </a:rPr>
              <a:t>A plain HTML form physically *cannot* send `Content-Type: application/json` — that's not one of the content types a form element...</a:t>
            </a:r>
          </a:p>
        </p:txBody>
      </p:sp>
      <p:pic>
        <p:nvPicPr>
          <p:cNvPr id="90001" name="Brand Logo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503152" y="6172200"/>
            <a:ext cx="548640" cy="548640"/>
          </a:xfrm>
          <a:prstGeom prst="rect">
            <a:avLst/>
          </a:prstGeom>
        </p:spPr>
      </p:pic>
    </p:spTree>
  </p:cSld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4181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Label"/>
          <p:cNvSpPr/>
          <p:nvPr/>
        </p:nvSpPr>
        <p:spPr>
          <a:xfrm>
            <a:off x="731520" y="548640"/>
            <a:ext cx="10725912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600" spc="300" dirty="0">
                <a:solidFill>
                  <a:srgbClr val="F2994A"/>
                </a:solidFill>
                <a:latin typeface="Courier New" pitchFamily="34" charset="0"/>
              </a:rPr>
              <a:t>COMMON MISTAKE</a:t>
            </a:r>
            <a:endParaRPr lang="en-US" sz="1600"/>
          </a:p>
        </p:txBody>
      </p:sp>
      <p:sp>
        <p:nvSpPr>
          <p:cNvPr id="4" name="Body"/>
          <p:cNvSpPr/>
          <p:nvPr/>
        </p:nvSpPr>
        <p:spPr>
          <a:xfrm>
            <a:off x="731520" y="1300000"/>
            <a:ext cx="10725912" cy="4200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-228600" marL="228600">
              <a:buFont typeface="Arial"/>
              <a:buChar char="•"/>
            </a:pPr>
            <a:r>
              <a:rPr lang="en-US" sz="1800" dirty="0">
                <a:solidFill>
                  <a:srgbClr val="9AA3AE"/>
                </a:solidFill>
                <a:latin typeface="Calibri" pitchFamily="34" charset="0"/>
              </a:rPr>
              <a:t>When I got asked to explain why the JSON attack failed, in my own words, I said it was blocked...</a:t>
            </a:r>
          </a:p>
          <a:p>
            <a:pPr indent="-228600" marL="228600">
              <a:buFont typeface="Arial"/>
              <a:buChar char="•"/>
            </a:pPr>
            <a:r>
              <a:rPr lang="en-US" sz="1800" dirty="0">
                <a:solidFill>
                  <a:srgbClr val="9AA3AE"/>
                </a:solidFill>
                <a:latin typeface="Calibri" pitchFamily="34" charset="0"/>
              </a:rPr>
              <a:t>The actual mechanism is narrower and more interesting: it's specifically the CORS preflight check, and it depends entirely on whether...</a:t>
            </a:r>
          </a:p>
          <a:p>
            <a:pPr indent="-228600" marL="228600">
              <a:buFont typeface="Arial"/>
              <a:buChar char="•"/>
            </a:pPr>
            <a:r>
              <a:rPr lang="en-US" sz="1800" dirty="0">
                <a:solidFill>
                  <a:srgbClr val="9AA3AE"/>
                </a:solidFill>
                <a:latin typeface="Calibri" pitchFamily="34" charset="0"/>
              </a:rPr>
              <a:t>If that same bank server had a careless, overly permissive CORS configuration — say, allowing any origin — this exact...</a:t>
            </a:r>
          </a:p>
          <a:p>
            <a:pPr indent="-228600" marL="228600">
              <a:buFont typeface="Arial"/>
              <a:buChar char="•"/>
            </a:pPr>
            <a:r>
              <a:rPr lang="en-US" sz="1800" dirty="0">
                <a:solidFill>
                  <a:srgbClr val="9AA3AE"/>
                </a:solidFill>
                <a:latin typeface="Calibri" pitchFamily="34" charset="0"/>
              </a:rPr>
              <a:t>The protection isn't baked into JSON itself; it's baked into a specific browser mechanism that a misconfigured server can accidentally...</a:t>
            </a:r>
          </a:p>
        </p:txBody>
      </p:sp>
      <p:pic>
        <p:nvPicPr>
          <p:cNvPr id="90001" name="Brand Logo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503152" y="6172200"/>
            <a:ext cx="548640" cy="548640"/>
          </a:xfrm>
          <a:prstGeom prst="rect">
            <a:avLst/>
          </a:prstGeom>
        </p:spPr>
      </p:pic>
    </p:spTree>
  </p:cSld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4181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Label"/>
          <p:cNvSpPr/>
          <p:nvPr/>
        </p:nvSpPr>
        <p:spPr>
          <a:xfrm>
            <a:off x="731520" y="548640"/>
            <a:ext cx="10725912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600" spc="300" dirty="0">
                <a:solidFill>
                  <a:srgbClr val="2FDD95"/>
                </a:solidFill>
                <a:latin typeface="Courier New" pitchFamily="34" charset="0"/>
              </a:rPr>
              <a:t>RECAP</a:t>
            </a:r>
            <a:endParaRPr lang="en-US" sz="1600"/>
          </a:p>
        </p:txBody>
      </p:sp>
      <p:sp>
        <p:nvSpPr>
          <p:cNvPr id="4" name="Body"/>
          <p:cNvSpPr/>
          <p:nvPr/>
        </p:nvSpPr>
        <p:spPr>
          <a:xfrm>
            <a:off x="731520" y="1300000"/>
            <a:ext cx="10725912" cy="4200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-228600" marL="228600">
              <a:buFont typeface="Arial"/>
              <a:buChar char="•"/>
            </a:pPr>
            <a:r>
              <a:rPr lang="en-US" sz="1800" dirty="0">
                <a:solidFill>
                  <a:srgbClr val="9AA3AE"/>
                </a:solidFill>
                <a:latin typeface="Calibri" pitchFamily="34" charset="0"/>
              </a:rPr>
              <a:t>Three takeaways from today: cookies are attached based on destination, not origin, which is the entire premise of CSRF.</a:t>
            </a:r>
          </a:p>
          <a:p>
            <a:pPr indent="-228600" marL="228600">
              <a:buFont typeface="Arial"/>
              <a:buChar char="•"/>
            </a:pPr>
            <a:r>
              <a:rPr lang="en-US" sz="1800" dirty="0">
                <a:solidFill>
                  <a:srgbClr val="9AA3AE"/>
                </a:solidFill>
                <a:latin typeface="Calibri" pitchFamily="34" charset="0"/>
              </a:rPr>
              <a:t>CORS preflight blocks a specific kind of cross-origin request, but only if the server actually declines to permit it via...</a:t>
            </a:r>
          </a:p>
          <a:p>
            <a:pPr indent="-228600" marL="228600">
              <a:buFont typeface="Arial"/>
              <a:buChar char="•"/>
            </a:pPr>
            <a:r>
              <a:rPr lang="en-US" sz="1800" dirty="0">
                <a:solidFill>
                  <a:srgbClr val="9AA3AE"/>
                </a:solidFill>
                <a:latin typeface="Calibri" pitchFamily="34" charset="0"/>
              </a:rPr>
              <a:t>And sending a request cross-origin is a different permission from reading its response — CSRF tokens work specifically because that...</a:t>
            </a:r>
          </a:p>
          <a:p>
            <a:pPr indent="-228600" marL="228600">
              <a:buFont typeface="Arial"/>
              <a:buChar char="•"/>
            </a:pPr>
            <a:r>
              <a:rPr lang="en-US" sz="1800" dirty="0">
                <a:solidFill>
                  <a:srgbClr val="9AA3AE"/>
                </a:solidFill>
                <a:latin typeface="Calibri" pitchFamily="34" charset="0"/>
              </a:rPr>
              <a:t>Here's today's quiz, pause if you want to answer before I do: 1.</a:t>
            </a:r>
          </a:p>
        </p:txBody>
      </p:sp>
      <p:pic>
        <p:nvPicPr>
          <p:cNvPr id="90001" name="Brand Logo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503152" y="6172200"/>
            <a:ext cx="548640" cy="548640"/>
          </a:xfrm>
          <a:prstGeom prst="rect">
            <a:avLst/>
          </a:prstGeom>
        </p:spPr>
      </p:pic>
    </p:spTree>
  </p:cSld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4181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Label"/>
          <p:cNvSpPr/>
          <p:nvPr/>
        </p:nvSpPr>
        <p:spPr>
          <a:xfrm>
            <a:off x="731520" y="548640"/>
            <a:ext cx="10725912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600" spc="300" dirty="0">
                <a:solidFill>
                  <a:srgbClr val="2FDD95"/>
                </a:solidFill>
                <a:latin typeface="Courier New" pitchFamily="34" charset="0"/>
              </a:rPr>
              <a:t>QUIZ — PAUSE AND THINK</a:t>
            </a:r>
            <a:endParaRPr lang="en-US" sz="1600"/>
          </a:p>
        </p:txBody>
      </p:sp>
      <p:sp>
        <p:nvSpPr>
          <p:cNvPr id="4" name="Body"/>
          <p:cNvSpPr/>
          <p:nvPr/>
        </p:nvSpPr>
        <p:spPr>
          <a:xfrm>
            <a:off x="731520" y="1300000"/>
            <a:ext cx="10725912" cy="4200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-228600" marL="228600">
              <a:buFont typeface="Arial"/>
              <a:buChar char="•"/>
            </a:pPr>
            <a:r>
              <a:rPr lang="en-US" sz="1800" dirty="0">
                <a:solidFill>
                  <a:srgbClr val="9AA3AE"/>
                </a:solidFill>
                <a:latin typeface="Calibri" pitchFamily="34" charset="0"/>
              </a:rPr>
              <a:t>Why does the attacker's browser successfully attach the victim's real cookie to a forged request?</a:t>
            </a:r>
          </a:p>
          <a:p>
            <a:pPr indent="-228600" marL="228600">
              <a:buFont typeface="Arial"/>
              <a:buChar char="•"/>
            </a:pPr>
            <a:r>
              <a:rPr lang="en-US" sz="1800" dirty="0">
                <a:solidFill>
                  <a:srgbClr val="9AA3AE"/>
                </a:solidFill>
                <a:latin typeface="Calibri" pitchFamily="34" charset="0"/>
              </a:rPr>
              <a:t>Was the JSON attack blocked because JSON is inherently same-origin-only, or for a more specific reason?</a:t>
            </a:r>
          </a:p>
          <a:p>
            <a:pPr indent="-228600" marL="228600">
              <a:buFont typeface="Arial"/>
              <a:buChar char="•"/>
            </a:pPr>
            <a:r>
              <a:rPr lang="en-US" sz="1800" dirty="0">
                <a:solidFill>
                  <a:srgbClr val="9AA3AE"/>
                </a:solidFill>
                <a:latin typeface="Calibri" pitchFamily="34" charset="0"/>
              </a:rPr>
              <a:t>Why can't the attacker's page just read the CSRF token off the bank's real form?</a:t>
            </a:r>
          </a:p>
        </p:txBody>
      </p:sp>
      <p:pic>
        <p:nvPicPr>
          <p:cNvPr id="90001" name="Brand Logo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503152" y="6172200"/>
            <a:ext cx="548640" cy="548640"/>
          </a:xfrm>
          <a:prstGeom prst="rect">
            <a:avLst/>
          </a:prstGeom>
        </p:spPr>
      </p:pic>
    </p:spTree>
  </p:cSld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4181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Label"/>
          <p:cNvSpPr/>
          <p:nvPr/>
        </p:nvSpPr>
        <p:spPr>
          <a:xfrm>
            <a:off x="731520" y="548640"/>
            <a:ext cx="10725912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600" spc="300" dirty="0">
                <a:solidFill>
                  <a:srgbClr val="2FDD95"/>
                </a:solidFill>
                <a:latin typeface="Courier New" pitchFamily="34" charset="0"/>
              </a:rPr>
              <a:t>TAKEAWAY</a:t>
            </a:r>
            <a:endParaRPr lang="en-US" sz="1600"/>
          </a:p>
        </p:txBody>
      </p:sp>
      <p:sp>
        <p:nvSpPr>
          <p:cNvPr id="4" name="Body"/>
          <p:cNvSpPr/>
          <p:nvPr/>
        </p:nvSpPr>
        <p:spPr>
          <a:xfrm>
            <a:off x="731520" y="1300000"/>
            <a:ext cx="10725912" cy="4200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-228600" marL="228600">
              <a:buFont typeface="Arial"/>
              <a:buChar char="•"/>
            </a:pPr>
            <a:r>
              <a:rPr lang="en-US" sz="1800" dirty="0">
                <a:solidFill>
                  <a:srgbClr val="9AA3AE"/>
                </a:solidFill>
                <a:latin typeface="Calibri" pitchFamily="34" charset="0"/>
              </a:rPr>
              <a:t>My operational takeaway for today: any state-changing endpoint that trusts a cookie alone to answer "is this really you?" is forgeable by any page the victim merely visits — pair...</a:t>
            </a:r>
          </a:p>
          <a:p>
            <a:pPr indent="-228600" marL="228600">
              <a:buFont typeface="Arial"/>
              <a:buChar char="•"/>
            </a:pPr>
            <a:r>
              <a:rPr lang="en-US" sz="1800" dirty="0">
                <a:solidFill>
                  <a:srgbClr val="9AA3AE"/>
                </a:solidFill>
                <a:latin typeface="Calibri" pitchFamily="34" charset="0"/>
              </a:rPr>
              <a:t>If you've hit a CORS preflight error in your own work and wondered what it actually meant, drop a comment — I'd genuinely missed the "200 doesn't mean permission" detail...</a:t>
            </a:r>
          </a:p>
        </p:txBody>
      </p:sp>
      <p:pic>
        <p:nvPicPr>
          <p:cNvPr id="90001" name="Brand Logo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503152" y="6172200"/>
            <a:ext cx="548640" cy="548640"/>
          </a:xfrm>
          <a:prstGeom prst="rect">
            <a:avLst/>
          </a:prstGeom>
        </p:spPr>
      </p:pic>
    </p:spTree>
  </p:cSld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4181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Label"/>
          <p:cNvSpPr/>
          <p:nvPr/>
        </p:nvSpPr>
        <p:spPr>
          <a:xfrm>
            <a:off x="731520" y="548640"/>
            <a:ext cx="700000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600" spc="300" dirty="0">
                <a:solidFill>
                  <a:srgbClr val="2FDD95"/>
                </a:solidFill>
                <a:latin typeface="Courier New" pitchFamily="34" charset="0"/>
              </a:rPr>
              <a:t>ABOUT THE TRAINER</a:t>
            </a:r>
            <a:endParaRPr lang="en-US" sz="1600"/>
          </a:p>
        </p:txBody>
      </p:sp>
      <p:sp>
        <p:nvSpPr>
          <p:cNvPr id="3" name="Name"/>
          <p:cNvSpPr/>
          <p:nvPr/>
        </p:nvSpPr>
        <p:spPr>
          <a:xfrm>
            <a:off x="731520" y="1300000"/>
            <a:ext cx="7000000" cy="700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3600" b="1" dirty="0">
                <a:solidFill>
                  <a:srgbClr val="F2F2F2"/>
                </a:solidFill>
                <a:latin typeface="Cambria" pitchFamily="34" charset="0"/>
              </a:rPr>
              <a:t>Abdul Aziz Khan</a:t>
            </a:r>
            <a:endParaRPr lang="en-US" sz="3600"/>
          </a:p>
        </p:txBody>
      </p:sp>
      <p:sp>
        <p:nvSpPr>
          <p:cNvPr id="4" name="Role"/>
          <p:cNvSpPr/>
          <p:nvPr/>
        </p:nvSpPr>
        <p:spPr>
          <a:xfrm>
            <a:off x="731520" y="2150000"/>
            <a:ext cx="7000000" cy="450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800" dirty="0">
                <a:solidFill>
                  <a:srgbClr val="2FDD95"/>
                </a:solidFill>
                <a:latin typeface="Calibri" pitchFamily="34" charset="0"/>
              </a:rPr>
              <a:t>Trainer, BrainsWork</a:t>
            </a:r>
            <a:endParaRPr lang="en-US" sz="1800"/>
          </a:p>
        </p:txBody>
      </p:sp>
      <p:sp>
        <p:nvSpPr>
          <p:cNvPr id="5" name="Bio"/>
          <p:cNvSpPr/>
          <p:nvPr/>
        </p:nvSpPr>
        <p:spPr>
          <a:xfrm>
            <a:off x="731520" y="2750000"/>
            <a:ext cx="7000000" cy="2400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9AA3AE"/>
                </a:solidFill>
                <a:latin typeface="Calibri" pitchFamily="34" charset="0"/>
              </a:rPr>
              <a:t>Abdul Aziz Khan is a seasoned Telecom and IT professional, currently working as a DevOps engineer for a Fortune 500 financial company. A long-time practitioner turned teacher, he built this course to make security concepts concrete through real, hands-on labs rather than slides alone. Open, candid, and always glad to talk shop.</a:t>
            </a:r>
            <a:endParaRPr lang="en-US" sz="1400"/>
          </a:p>
        </p:txBody>
      </p:sp>
      <p:sp>
        <p:nvSpPr>
          <p:cNvPr id="6" name="Contact"/>
          <p:cNvSpPr/>
          <p:nvPr/>
        </p:nvSpPr>
        <p:spPr>
          <a:xfrm>
            <a:off x="731520" y="5450000"/>
            <a:ext cx="7000000" cy="400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F2F2F2"/>
                </a:solidFill>
                <a:latin typeface="Calibri" pitchFamily="34" charset="0"/>
              </a:rPr>
              <a:t>khan.abdulaziz@gmail.com   |   linkedin.com/in/abdulazizk</a:t>
            </a:r>
            <a:endParaRPr lang="en-US" sz="1300"/>
          </a:p>
        </p:txBody>
      </p:sp>
      <p:pic>
        <p:nvPicPr>
          <p:cNvPr id="7" name="Trainer Photo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400032" y="2057400"/>
            <a:ext cx="2057400" cy="2743200"/>
          </a:xfrm>
          <a:prstGeom prst="rect">
            <a:avLst/>
          </a:prstGeom>
        </p:spPr>
      </p:pic>
      <p:pic>
        <p:nvPicPr>
          <p:cNvPr id="8" name="Brand Logo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503152" y="6172200"/>
            <a:ext cx="548640" cy="548640"/>
          </a:xfrm>
          <a:prstGeom prst="rect">
            <a:avLst/>
          </a:prstGeom>
        </p:spPr>
      </p:pic>
    </p:spTree>
  </p:cSld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2026-10-11T17:43:10Z</dcterms:created>
  <dcterms:modified xsi:type="dcterms:W3CDTF">2026-10-11T17:43:10Z</dcterms:modified>
</cp:coreProperties>
</file>