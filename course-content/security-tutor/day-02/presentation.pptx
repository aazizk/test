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brandLogo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brandLogo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brandLogo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brandLogo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brandLogo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brandLogo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brandLogo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brandLogo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brandLogo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brand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rainerPhoto.jpg"/><Relationship Id="rId3" Type="http://schemas.openxmlformats.org/officeDocument/2006/relationships/image" Target="../media/brand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02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Delivery vs. Routing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Tutor — CEH-Track Program</a:t>
            </a:r>
            <a:endParaRPr lang="en-US" sz="16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HOOK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laptop sends a packet, how does it decide: deliver it directly on the local network, or send it to a router? That decision happens every single time.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vs. routed delivery decision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ARP's role in local delivery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gateway &amp; routing tables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Longest-prefix-match &amp; the default route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vs. Routed Delivery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packet: is the destination in my own subnet?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→ deliver directly, no router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local → hand off to the default gateway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 and Local Delivery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delivery needs a MAC address, not just an IP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ARP: broadcast "who has this IP?"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replies with its MAC — now delivery works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Gateway &amp; Routing Tables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Non-local traffic → default gateway (router)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keeps a routing table of known destinations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matches → longest-prefix-match wins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Longest-prefix-match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 table: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10.0.0.0/16  → eth0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10.0.0.0/28  → eth1   ← wins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Dest: 10.0.0.5 matches both,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/28 is more specific.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Default Route — 0.0.0.0/0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specific route possible — matches everything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only when nothing more specific matches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"send it to the internet" fallback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554480" y="17373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starts with a local-vs-routed decision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 resolves an IP into a MAC for local delivery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44805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use longest-prefix-match, fallback 0.0.0.0/0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Pause and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 router has routes for 10.0.0.0/24 and 10.0.0.0/16; traffic is headed to 10.0.0.5 — which route wins and why?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protocol resolves an IP address into a MAC address?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is 0.0.0.0/0 and when is it actually used?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0"/>
          </a:xfrm>
          <a:prstGeom prst="line">
            <a:avLst/>
          </a:prstGeom>
          <a:noFill/>
          <a:ln w="25400">
            <a:solidFill>
              <a:srgbClr val="2FDD9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computer never assumes it can reach something directly — it checks "is this local"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Day 3 — TCP's three-way handshake and DNS, tied into one full connection flow.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Slide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731520" y="548640"/>
            <a:ext cx="700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spc="300" dirty="0">
                <a:solidFill>
                  <a:srgbClr val="2FDD95"/>
                </a:solidFill>
                <a:latin typeface="Courier New" pitchFamily="34" charset="0"/>
              </a:rPr>
              <a:t>ABOUT THE TRAINER</a:t>
            </a:r>
            <a:endParaRPr lang="en-US" sz="1600"/>
          </a:p>
        </p:txBody>
      </p:sp>
      <p:sp>
        <p:nvSpPr>
          <p:cNvPr id="3" name="Name"/>
          <p:cNvSpPr/>
          <p:nvPr/>
        </p:nvSpPr>
        <p:spPr>
          <a:xfrm>
            <a:off x="731520" y="1300000"/>
            <a:ext cx="70000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2F2"/>
                </a:solidFill>
                <a:latin typeface="Cambria" pitchFamily="34" charset="0"/>
              </a:rPr>
              <a:t>Abdul Aziz Khan</a:t>
            </a:r>
            <a:endParaRPr lang="en-US" sz="3600"/>
          </a:p>
        </p:txBody>
      </p:sp>
      <p:sp>
        <p:nvSpPr>
          <p:cNvPr id="4" name="Role"/>
          <p:cNvSpPr/>
          <p:nvPr/>
        </p:nvSpPr>
        <p:spPr>
          <a:xfrm>
            <a:off x="731520" y="2150000"/>
            <a:ext cx="700000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FDD95"/>
                </a:solidFill>
                <a:latin typeface="Calibri" pitchFamily="34" charset="0"/>
              </a:rPr>
              <a:t>Trainer, BrainsWork</a:t>
            </a:r>
            <a:endParaRPr lang="en-US" sz="1800"/>
          </a:p>
        </p:txBody>
      </p:sp>
      <p:sp>
        <p:nvSpPr>
          <p:cNvPr id="5" name="Bio"/>
          <p:cNvSpPr/>
          <p:nvPr/>
        </p:nvSpPr>
        <p:spPr>
          <a:xfrm>
            <a:off x="731520" y="2750000"/>
            <a:ext cx="7000000" cy="2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</a:rPr>
              <a:t>Abdul Aziz Khan is a seasoned Telecom and IT professional, currently working as a DevOps engineer for a Fortune 500 financial company. A long-time practitioner turned teacher, he built this course to make security concepts concrete through real, hands-on labs rather than slides alone. Open, candid, and always glad to talk shop.</a:t>
            </a:r>
            <a:endParaRPr lang="en-US" sz="1400"/>
          </a:p>
        </p:txBody>
      </p:sp>
      <p:sp>
        <p:nvSpPr>
          <p:cNvPr id="6" name="Contact"/>
          <p:cNvSpPr/>
          <p:nvPr/>
        </p:nvSpPr>
        <p:spPr>
          <a:xfrm>
            <a:off x="731520" y="5450000"/>
            <a:ext cx="700000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</a:rPr>
              <a:t>khan.abdulaziz@gmail.com   |   linkedin.com/in/abdulazizk</a:t>
            </a:r>
            <a:endParaRPr lang="en-US" sz="1300"/>
          </a:p>
        </p:txBody>
      </p:sp>
      <p:pic>
        <p:nvPicPr>
          <p:cNvPr id="7" name="Trainer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057400"/>
            <a:ext cx="2057400" cy="2743200"/>
          </a:xfrm>
          <a:prstGeom prst="rect">
            <a:avLst/>
          </a:prstGeom>
        </p:spPr>
      </p:pic>
      <p:pic>
        <p:nvPicPr>
          <p:cNvPr id="8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2026-10-11T17:43:10Z</dcterms:created>
  <dcterms:modified xsi:type="dcterms:W3CDTF">2026-10-11T17:43:10Z</dcterms:modified>
</cp:coreProperties>
</file>